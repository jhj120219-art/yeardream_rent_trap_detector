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1c8c403f64874" /><Relationship Type="http://schemas.openxmlformats.org/officeDocument/2006/relationships/extended-properties" Target="/docProps/app.xml" Id="Rb83465ab060e45c7" /><Relationship Type="http://schemas.openxmlformats.org/officeDocument/2006/relationships/officeDocument" Target="/ppt/presentation.xml" Id="R2411bf90081144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65e8f95acd478a"/>
  </p:sldMasterIdLst>
  <p:notesMasterIdLst>
    <p:notesMasterId xmlns:r="http://schemas.openxmlformats.org/officeDocument/2006/relationships" r:id="Rfd348de20ac44862"/>
  </p:notesMasterIdLst>
  <p:sldIdLst>
    <p:sldId xmlns:r="http://schemas.openxmlformats.org/officeDocument/2006/relationships" id="256" r:id="R81ea57926a884d2f"/>
    <p:sldId xmlns:r="http://schemas.openxmlformats.org/officeDocument/2006/relationships" id="257" r:id="R19e74f88dec04cf2"/>
    <p:sldId xmlns:r="http://schemas.openxmlformats.org/officeDocument/2006/relationships" id="258" r:id="R971ac53592a54bdf"/>
    <p:sldId xmlns:r="http://schemas.openxmlformats.org/officeDocument/2006/relationships" id="259" r:id="R926960da1d54464b"/>
    <p:sldId xmlns:r="http://schemas.openxmlformats.org/officeDocument/2006/relationships" id="260" r:id="Ra3eea010998a4bf3"/>
    <p:sldId xmlns:r="http://schemas.openxmlformats.org/officeDocument/2006/relationships" id="261" r:id="Raa5d23aa32854b8f"/>
    <p:sldId xmlns:r="http://schemas.openxmlformats.org/officeDocument/2006/relationships" id="262" r:id="Rb67f0f78b2b548b7"/>
    <p:sldId xmlns:r="http://schemas.openxmlformats.org/officeDocument/2006/relationships" id="263" r:id="R6c1054e9912c4373"/>
    <p:sldId xmlns:r="http://schemas.openxmlformats.org/officeDocument/2006/relationships" id="264" r:id="Rd2609393964b491a"/>
    <p:sldId xmlns:r="http://schemas.openxmlformats.org/officeDocument/2006/relationships" id="265" r:id="R3296e12c67484455"/>
    <p:sldId xmlns:r="http://schemas.openxmlformats.org/officeDocument/2006/relationships" id="266" r:id="Rb44ad30292534646"/>
    <p:sldId xmlns:r="http://schemas.openxmlformats.org/officeDocument/2006/relationships" id="267" r:id="Rb2a1483bf9df4229"/>
    <p:sldId xmlns:r="http://schemas.openxmlformats.org/officeDocument/2006/relationships" id="268" r:id="R8778423eab6c4700"/>
    <p:sldId xmlns:r="http://schemas.openxmlformats.org/officeDocument/2006/relationships" id="269" r:id="R4adc4e7d60e24264"/>
    <p:sldId xmlns:r="http://schemas.openxmlformats.org/officeDocument/2006/relationships" id="270" r:id="Rc9159eeb2420401c"/>
    <p:sldId xmlns:r="http://schemas.openxmlformats.org/officeDocument/2006/relationships" id="271" r:id="Re83d09621c604831"/>
    <p:sldId xmlns:r="http://schemas.openxmlformats.org/officeDocument/2006/relationships" id="272" r:id="R359ac8c2be68464c"/>
    <p:sldId xmlns:r="http://schemas.openxmlformats.org/officeDocument/2006/relationships" id="273" r:id="R9c534f268f2843d3"/>
    <p:sldId xmlns:r="http://schemas.openxmlformats.org/officeDocument/2006/relationships" id="274" r:id="R3427058439ae449b"/>
    <p:sldId xmlns:r="http://schemas.openxmlformats.org/officeDocument/2006/relationships" id="275" r:id="R2d7a35cdae644ee1"/>
    <p:sldId xmlns:r="http://schemas.openxmlformats.org/officeDocument/2006/relationships" id="276" r:id="Rf4afc292304c4942"/>
    <p:sldId xmlns:r="http://schemas.openxmlformats.org/officeDocument/2006/relationships" id="277" r:id="R4bc375f7478d48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1255dc3f9942b2" /><Relationship Type="http://schemas.openxmlformats.org/officeDocument/2006/relationships/slideMaster" Target="/ppt/slideMasters/slideMaster1.xml" Id="R0665e8f95acd478a" /><Relationship Type="http://schemas.openxmlformats.org/officeDocument/2006/relationships/notesMaster" Target="/ppt/notesMasters/notesMaster1.xml" Id="Rfd348de20ac44862" /><Relationship Type="http://schemas.openxmlformats.org/officeDocument/2006/relationships/presProps" Target="/ppt/presProps.xml" Id="R84c0454f06df4d84" /><Relationship Type="http://schemas.openxmlformats.org/officeDocument/2006/relationships/tableStyles" Target="/ppt/tableStyles.xml" Id="R93212fe6b39a490a" /><Relationship Type="http://schemas.openxmlformats.org/officeDocument/2006/relationships/slide" Target="/ppt/slides/slide1.xml" Id="R81ea57926a884d2f" /><Relationship Type="http://schemas.openxmlformats.org/officeDocument/2006/relationships/slide" Target="/ppt/slides/slide2.xml" Id="R19e74f88dec04cf2" /><Relationship Type="http://schemas.openxmlformats.org/officeDocument/2006/relationships/slide" Target="/ppt/slides/slide3.xml" Id="R971ac53592a54bdf" /><Relationship Type="http://schemas.openxmlformats.org/officeDocument/2006/relationships/slide" Target="/ppt/slides/slide4.xml" Id="R926960da1d54464b" /><Relationship Type="http://schemas.openxmlformats.org/officeDocument/2006/relationships/slide" Target="/ppt/slides/slide5.xml" Id="Ra3eea010998a4bf3" /><Relationship Type="http://schemas.openxmlformats.org/officeDocument/2006/relationships/slide" Target="/ppt/slides/slide6.xml" Id="Raa5d23aa32854b8f" /><Relationship Type="http://schemas.openxmlformats.org/officeDocument/2006/relationships/slide" Target="/ppt/slides/slide7.xml" Id="Rb67f0f78b2b548b7" /><Relationship Type="http://schemas.openxmlformats.org/officeDocument/2006/relationships/slide" Target="/ppt/slides/slide8.xml" Id="R6c1054e9912c4373" /><Relationship Type="http://schemas.openxmlformats.org/officeDocument/2006/relationships/slide" Target="/ppt/slides/slide9.xml" Id="Rd2609393964b491a" /><Relationship Type="http://schemas.openxmlformats.org/officeDocument/2006/relationships/slide" Target="/ppt/slides/slide10.xml" Id="R3296e12c67484455" /><Relationship Type="http://schemas.openxmlformats.org/officeDocument/2006/relationships/slide" Target="/ppt/slides/slide11.xml" Id="Rb44ad30292534646" /><Relationship Type="http://schemas.openxmlformats.org/officeDocument/2006/relationships/slide" Target="/ppt/slides/slide12.xml" Id="Rb2a1483bf9df4229" /><Relationship Type="http://schemas.openxmlformats.org/officeDocument/2006/relationships/slide" Target="/ppt/slides/slide13.xml" Id="R8778423eab6c4700" /><Relationship Type="http://schemas.openxmlformats.org/officeDocument/2006/relationships/slide" Target="/ppt/slides/slide14.xml" Id="R4adc4e7d60e24264" /><Relationship Type="http://schemas.openxmlformats.org/officeDocument/2006/relationships/slide" Target="/ppt/slides/slide15.xml" Id="Rc9159eeb2420401c" /><Relationship Type="http://schemas.openxmlformats.org/officeDocument/2006/relationships/slide" Target="/ppt/slides/slide16.xml" Id="Re83d09621c604831" /><Relationship Type="http://schemas.openxmlformats.org/officeDocument/2006/relationships/slide" Target="/ppt/slides/slide17.xml" Id="R359ac8c2be68464c" /><Relationship Type="http://schemas.openxmlformats.org/officeDocument/2006/relationships/slide" Target="/ppt/slides/slide18.xml" Id="R9c534f268f2843d3" /><Relationship Type="http://schemas.openxmlformats.org/officeDocument/2006/relationships/slide" Target="/ppt/slides/slide19.xml" Id="R3427058439ae449b" /><Relationship Type="http://schemas.openxmlformats.org/officeDocument/2006/relationships/slide" Target="/ppt/slides/slide20.xml" Id="R2d7a35cdae644ee1" /><Relationship Type="http://schemas.openxmlformats.org/officeDocument/2006/relationships/slide" Target="/ppt/slides/slide21.xml" Id="Rf4afc292304c4942" /><Relationship Type="http://schemas.openxmlformats.org/officeDocument/2006/relationships/slide" Target="/ppt/slides/slide22.xml" Id="R4bc375f7478d48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bddf6ea99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aperlogy"/>
        <a:ea typeface=""/>
        <a:cs typeface=""/>
      </a:majorFont>
      <a:minorFont>
        <a:latin typeface="Paperlogy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7d10c419ed4f4e" /><Relationship Type="http://schemas.openxmlformats.org/officeDocument/2006/relationships/notesMaster" Target="/ppt/notesMasters/notesMaster1.xml" Id="R798157ae650a48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12e57f75e44d05" /><Relationship Type="http://schemas.openxmlformats.org/officeDocument/2006/relationships/notesMaster" Target="/ppt/notesMasters/notesMaster1.xml" Id="R16bdef2588b644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844ee4463f4dfa" /><Relationship Type="http://schemas.openxmlformats.org/officeDocument/2006/relationships/notesMaster" Target="/ppt/notesMasters/notesMaster1.xml" Id="R9867a5fca286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64eb65a544f6c" /><Relationship Type="http://schemas.openxmlformats.org/officeDocument/2006/relationships/notesMaster" Target="/ppt/notesMasters/notesMaster1.xml" Id="R9070e4df5d5a4a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c624b496146c0" /><Relationship Type="http://schemas.openxmlformats.org/officeDocument/2006/relationships/notesMaster" Target="/ppt/notesMasters/notesMaster1.xml" Id="R6238ce875a4747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fc4761427440e7" /><Relationship Type="http://schemas.openxmlformats.org/officeDocument/2006/relationships/notesMaster" Target="/ppt/notesMasters/notesMaster1.xml" Id="Re58ef7cc22cb4f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704a1951a4928" /><Relationship Type="http://schemas.openxmlformats.org/officeDocument/2006/relationships/notesMaster" Target="/ppt/notesMasters/notesMaster1.xml" Id="R4bf0887add524a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80e347fb0846f6" /><Relationship Type="http://schemas.openxmlformats.org/officeDocument/2006/relationships/notesMaster" Target="/ppt/notesMasters/notesMaster1.xml" Id="R34655a0eebbb4d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b672e42c5d4428" /><Relationship Type="http://schemas.openxmlformats.org/officeDocument/2006/relationships/notesMaster" Target="/ppt/notesMasters/notesMaster1.xml" Id="Rb520a309406748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2ed0c3d2dc45fd" /><Relationship Type="http://schemas.openxmlformats.org/officeDocument/2006/relationships/notesMaster" Target="/ppt/notesMasters/notesMaster1.xml" Id="R3fb72015ce9f45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f43f25ad3f43e0" /><Relationship Type="http://schemas.openxmlformats.org/officeDocument/2006/relationships/notesMaster" Target="/ppt/notesMasters/notesMaster1.xml" Id="Rc8868394171040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33b2f1048e41f0" /><Relationship Type="http://schemas.openxmlformats.org/officeDocument/2006/relationships/notesMaster" Target="/ppt/notesMasters/notesMaster1.xml" Id="Rf1249ca40dac48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44abfee9944619" /><Relationship Type="http://schemas.openxmlformats.org/officeDocument/2006/relationships/notesMaster" Target="/ppt/notesMasters/notesMaster1.xml" Id="R8d2b4cfc82e54e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cf3f260e4d4a29" /><Relationship Type="http://schemas.openxmlformats.org/officeDocument/2006/relationships/notesMaster" Target="/ppt/notesMasters/notesMaster1.xml" Id="R9a8aac4d95d046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c442c0a22c4ee5" /><Relationship Type="http://schemas.openxmlformats.org/officeDocument/2006/relationships/notesMaster" Target="/ppt/notesMasters/notesMaster1.xml" Id="R83691507bed646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d6331a10b4458d" /><Relationship Type="http://schemas.openxmlformats.org/officeDocument/2006/relationships/notesMaster" Target="/ppt/notesMasters/notesMaster1.xml" Id="Rc28429710e6144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269fc5c5f94efa" /><Relationship Type="http://schemas.openxmlformats.org/officeDocument/2006/relationships/notesMaster" Target="/ppt/notesMasters/notesMaster1.xml" Id="Rc5155d28176a4e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3190aad4ab4503" /><Relationship Type="http://schemas.openxmlformats.org/officeDocument/2006/relationships/notesMaster" Target="/ppt/notesMasters/notesMaster1.xml" Id="R7b2611da6d3c44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391a1053f04c85" /><Relationship Type="http://schemas.openxmlformats.org/officeDocument/2006/relationships/notesMaster" Target="/ppt/notesMasters/notesMaster1.xml" Id="Rbe54fad4c99c48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0b57d3f99245ae" /><Relationship Type="http://schemas.openxmlformats.org/officeDocument/2006/relationships/notesMaster" Target="/ppt/notesMasters/notesMaster1.xml" Id="Rcf8f572ac68941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1f4b40d2d34060" /><Relationship Type="http://schemas.openxmlformats.org/officeDocument/2006/relationships/notesMaster" Target="/ppt/notesMasters/notesMaster1.xml" Id="Rcdcbf12019c548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de9f7b4c5c4e60" /><Relationship Type="http://schemas.openxmlformats.org/officeDocument/2006/relationships/notesMaster" Target="/ppt/notesMasters/notesMaster1.xml" Id="Rd515af524da145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페이지 https://munhwadream-rent-preview.zxaq3166.chatgpt.site/ 에서 캡처했습니다. 접속키는 포함하지 않았습니다. 결과 화면은 가상 매물의 실제 집 서버 연결 시험입니다.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페이지 https://munhwadream-rent-preview.zxaq3166.chatgpt.site/ 에서 캡처했습니다. 접속키는 포함하지 않았습니다. 결과 화면은 가상 매물의 실제 집 서버 연결 시험입니다.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페이지 https://munhwadream-rent-preview.zxaq3166.chatgpt.site/ 에서 캡처했습니다. 접속키는 포함하지 않았습니다. 결과 화면은 가상 매물의 실제 집 서버 연결 시험입니다.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main 코드 856dc01, 개인 집 적용 코드 99b94da 및 backend/HOME_VERIFIED_20261023.md. 실제 집 API·MySQL 집계 2026-10-23. 합성 연결 시험은 정확도 검증이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요구사항 원본 초안 시트 A1:O100을 읽기만 했습니다. https://docs.google.com/spreadsheets/d/1D8E9QjkNiDwWqL32SAmZechF-bOX3Pjsi92FhLItBRE/edit?gid=1938341489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요구사항 원본 초안 시트 A1:O100을 읽기만 했습니다. https://docs.google.com/spreadsheets/d/1D8E9QjkNiDwWqL32SAmZechF-bOX3Pjsi92FhLItBRE/edit?gid=1938341489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85ee4bfa24f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57e22dc3348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a354070cb4a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04138979047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6d801f2914d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c64dacbf8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DA18EE-8D67-4A3D-AD1D-731F119B2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C9C04A-A23C-46AA-80CA-10C5759179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E949E6-8CF8-4F87-ABE3-4E6B2524F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B70BFB-EDAA-4669-9243-099E19C02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30F97E-82C0-46CC-B096-11DDB1ED3C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01BA8A-84B5-4EB7-8F20-BD9785ACF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2FF987-EE28-48BF-A91F-0E960FA041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9D92E9-8D68-4FA0-94F9-70C380F2C4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3CA2F-487B-49DA-9CB6-4E3E63D8C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B61769-4206-426D-8117-AA3464DE0B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4545c3f5d14ddb" /><Relationship Type="http://schemas.openxmlformats.org/officeDocument/2006/relationships/slideLayout" Target="/ppt/slideLayouts/slideLayout1.xml" Id="R83ca39680e734837" /><Relationship Type="http://schemas.openxmlformats.org/officeDocument/2006/relationships/slideLayout" Target="/ppt/slideLayouts/slideLayout2.xml" Id="Rf6a93f20c3bc48b0" /><Relationship Type="http://schemas.openxmlformats.org/officeDocument/2006/relationships/slideLayout" Target="/ppt/slideLayouts/slideLayout3.xml" Id="Rbdf92c99dde6487f" /><Relationship Type="http://schemas.openxmlformats.org/officeDocument/2006/relationships/slideLayout" Target="/ppt/slideLayouts/slideLayout4.xml" Id="Rc9c04abd744c473c" /><Relationship Type="http://schemas.openxmlformats.org/officeDocument/2006/relationships/slideLayout" Target="/ppt/slideLayouts/slideLayout5.xml" Id="Rc5683d37f3264fee" /><Relationship Type="http://schemas.openxmlformats.org/officeDocument/2006/relationships/slideLayout" Target="/ppt/slideLayouts/slideLayout6.xml" Id="R5e83d92ba129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a39680e734837"/>
    <p:sldLayoutId xmlns:r="http://schemas.openxmlformats.org/officeDocument/2006/relationships" id="2147483650" r:id="Rf6a93f20c3bc48b0"/>
    <p:sldLayoutId xmlns:r="http://schemas.openxmlformats.org/officeDocument/2006/relationships" id="2147483651" r:id="Rbdf92c99dde6487f"/>
    <p:sldLayoutId xmlns:r="http://schemas.openxmlformats.org/officeDocument/2006/relationships" id="2147483652" r:id="Rc9c04abd744c473c"/>
    <p:sldLayoutId xmlns:r="http://schemas.openxmlformats.org/officeDocument/2006/relationships" id="2147483653" r:id="Rc5683d37f3264fee"/>
    <p:sldLayoutId xmlns:r="http://schemas.openxmlformats.org/officeDocument/2006/relationships" id="2147483654" r:id="R5e83d92ba129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aperlogy"/>
        <a:ea typeface=""/>
        <a:cs typeface=""/>
      </a:majorFont>
      <a:minorFont>
        <a:latin typeface="Paperlogy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78b38c9750f41e3" /><ns0:Relationship Type="http://schemas.openxmlformats.org/officeDocument/2006/relationships/image" Target="/ppt/media/image.png" Id="R2c779e007e4d48c2" /><ns0:Relationship Type="http://schemas.openxmlformats.org/officeDocument/2006/relationships/image" Target="/ppt/media/image2.png" Id="R887c6cf19b3f4377" /><ns0:Relationship Type="http://schemas.openxmlformats.org/officeDocument/2006/relationships/notesSlide" Target="/ppt/notesSlides/notesSlide1.xml" Id="R416863d53aae42bd" /><ns0:Relationship Id="rIdServiceLink" Type="http://schemas.openxmlformats.org/officeDocument/2006/relationships/hyperlink" Target="https://munhwadream-rent-preview.zxaq3166.chatgpt.site/" TargetMode="External" /></ns0: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60e93c14d48d8" /><Relationship Type="http://schemas.openxmlformats.org/officeDocument/2006/relationships/image" Target="/ppt/media/image3.png" Id="R4d011282b6ba496a" /><Relationship Type="http://schemas.openxmlformats.org/officeDocument/2006/relationships/notesSlide" Target="/ppt/notesSlides/notesSlide2.xml" Id="Redb5f1bc05ca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c87fce3a74f26" /><Relationship Type="http://schemas.openxmlformats.org/officeDocument/2006/relationships/image" Target="/ppt/media/image4.png" Id="Rcfe148f39e824854" /><Relationship Type="http://schemas.openxmlformats.org/officeDocument/2006/relationships/notesSlide" Target="/ppt/notesSlides/notesSlide3.xml" Id="Recb1c8f71955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0466ff3b14bb8" /><Relationship Type="http://schemas.openxmlformats.org/officeDocument/2006/relationships/image" Target="/ppt/media/image5.png" Id="Raca12c89f44a43df" /><Relationship Type="http://schemas.openxmlformats.org/officeDocument/2006/relationships/notesSlide" Target="/ppt/notesSlides/notesSlide4.xml" Id="R65f5d7372dc347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d73bb7e054570" /><Relationship Type="http://schemas.openxmlformats.org/officeDocument/2006/relationships/image" Target="/ppt/media/image6.png" Id="R3632b429dde44058" /><Relationship Type="http://schemas.openxmlformats.org/officeDocument/2006/relationships/notesSlide" Target="/ppt/notesSlides/notesSlide5.xml" Id="R330abf89412846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c0d809d2a4d31" /><Relationship Type="http://schemas.openxmlformats.org/officeDocument/2006/relationships/image" Target="/ppt/media/image7.png" Id="Rd7c1d74cdd564b36" /><Relationship Type="http://schemas.openxmlformats.org/officeDocument/2006/relationships/notesSlide" Target="/ppt/notesSlides/notesSlide6.xml" Id="R20645e62e1ee47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9bf5f90af400d" /><Relationship Type="http://schemas.openxmlformats.org/officeDocument/2006/relationships/image" Target="/ppt/media/image8.png" Id="Ra3aa240a1d6e4f73" /><Relationship Type="http://schemas.openxmlformats.org/officeDocument/2006/relationships/image" Target="/ppt/media/image.jpeg" Id="R6ebb55444600475f" /><Relationship Type="http://schemas.openxmlformats.org/officeDocument/2006/relationships/image" Target="/ppt/media/image2.jpeg" Id="R73b1de088bd14002" /><Relationship Type="http://schemas.openxmlformats.org/officeDocument/2006/relationships/notesSlide" Target="/ppt/notesSlides/notesSlide7.xml" Id="R3290ed00dc9f47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c5660ab6e40ba" /><Relationship Type="http://schemas.openxmlformats.org/officeDocument/2006/relationships/image" Target="/ppt/media/image9.png" Id="Rc3a2865a35d94273" /><Relationship Type="http://schemas.openxmlformats.org/officeDocument/2006/relationships/image" Target="/ppt/media/image3.jpeg" Id="R2d7eccee65564a47" /><Relationship Type="http://schemas.openxmlformats.org/officeDocument/2006/relationships/image" Target="/ppt/media/image4.jpeg" Id="R732a1d483c6243a1" /><Relationship Type="http://schemas.openxmlformats.org/officeDocument/2006/relationships/notesSlide" Target="/ppt/notesSlides/notesSlide8.xml" Id="Rced6463fe576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7be48e7f44776" /><Relationship Type="http://schemas.openxmlformats.org/officeDocument/2006/relationships/image" Target="/ppt/media/image10.png" Id="Rb76a563f47054b11" /><Relationship Type="http://schemas.openxmlformats.org/officeDocument/2006/relationships/image" Target="/ppt/media/image5.jpeg" Id="Rf2f04e0970cd438d" /><Relationship Type="http://schemas.openxmlformats.org/officeDocument/2006/relationships/image" Target="/ppt/media/image6.jpeg" Id="R32a8543428bc48e3" /><Relationship Type="http://schemas.openxmlformats.org/officeDocument/2006/relationships/notesSlide" Target="/ppt/notesSlides/notesSlide9.xml" Id="R3bd1e7565c0d45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6a15bb2a540b4" /><Relationship Type="http://schemas.openxmlformats.org/officeDocument/2006/relationships/image" Target="/ppt/media/image11.png" Id="R8d695e8f9a7b4b76" /><Relationship Type="http://schemas.openxmlformats.org/officeDocument/2006/relationships/notesSlide" Target="/ppt/notesSlides/notesSlide10.xml" Id="R03e7c7be73a043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75e65f9ff4c1e" /><Relationship Type="http://schemas.openxmlformats.org/officeDocument/2006/relationships/image" Target="/ppt/media/image12.png" Id="Raaf30aae30554456" /><Relationship Type="http://schemas.openxmlformats.org/officeDocument/2006/relationships/notesSlide" Target="/ppt/notesSlides/notesSlide11.xml" Id="R8f7e5e8582754f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f8a6b56474d44" /><Relationship Type="http://schemas.openxmlformats.org/officeDocument/2006/relationships/image" Target="/ppt/media/image13.png" Id="R0473c47c6c9d4400" /><Relationship Type="http://schemas.openxmlformats.org/officeDocument/2006/relationships/notesSlide" Target="/ppt/notesSlides/notesSlide12.xml" Id="Rdac767e4c8ba4f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1ce9d32234159" /><Relationship Type="http://schemas.openxmlformats.org/officeDocument/2006/relationships/image" Target="/ppt/media/image14.png" Id="R70d1f6cc2191463b" /><Relationship Type="http://schemas.openxmlformats.org/officeDocument/2006/relationships/notesSlide" Target="/ppt/notesSlides/notesSlide13.xml" Id="R9f9eb2fa88f847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ccd02b27b4ab2" /><Relationship Type="http://schemas.openxmlformats.org/officeDocument/2006/relationships/image" Target="/ppt/media/image15.png" Id="R2e959a5f466e4f80" /><Relationship Type="http://schemas.openxmlformats.org/officeDocument/2006/relationships/notesSlide" Target="/ppt/notesSlides/notesSlide14.xml" Id="Rf0b0887b88b94d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729e010e45494f" /><Relationship Type="http://schemas.openxmlformats.org/officeDocument/2006/relationships/image" Target="/ppt/media/image16.png" Id="R85f6084a9f7d470f" /><Relationship Type="http://schemas.openxmlformats.org/officeDocument/2006/relationships/notesSlide" Target="/ppt/notesSlides/notesSlide15.xml" Id="R91dd0834c83949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63228e214f4965" /><Relationship Type="http://schemas.openxmlformats.org/officeDocument/2006/relationships/image" Target="/ppt/media/image17.png" Id="Rdbb0c4f746584091" /><Relationship Type="http://schemas.openxmlformats.org/officeDocument/2006/relationships/notesSlide" Target="/ppt/notesSlides/notesSlide16.xml" Id="R7ee3aeba541f43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6b3b6d54246c9" /><Relationship Type="http://schemas.openxmlformats.org/officeDocument/2006/relationships/image" Target="/ppt/media/image18.png" Id="R19194a42cb134bb5" /><Relationship Type="http://schemas.openxmlformats.org/officeDocument/2006/relationships/notesSlide" Target="/ppt/notesSlides/notesSlide17.xml" Id="R6bd210dd445c44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3d46260904b9e" /><Relationship Type="http://schemas.openxmlformats.org/officeDocument/2006/relationships/image" Target="/ppt/media/image19.png" Id="R590baf6e3d454658" /><Relationship Type="http://schemas.openxmlformats.org/officeDocument/2006/relationships/notesSlide" Target="/ppt/notesSlides/notesSlide18.xml" Id="Rd277a6b607fa4a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7e2bb31de49dc" /><Relationship Type="http://schemas.openxmlformats.org/officeDocument/2006/relationships/image" Target="/ppt/media/image20.png" Id="Rbff7d5b56a1b40a7" /><Relationship Type="http://schemas.openxmlformats.org/officeDocument/2006/relationships/notesSlide" Target="/ppt/notesSlides/notesSlide19.xml" Id="R49cd6e4739b747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12dc67a1654bf7" /><Relationship Type="http://schemas.openxmlformats.org/officeDocument/2006/relationships/image" Target="/ppt/media/image21.png" Id="Rec2d7f0e3ab94a9f" /><Relationship Type="http://schemas.openxmlformats.org/officeDocument/2006/relationships/notesSlide" Target="/ppt/notesSlides/notesSlide20.xml" Id="Rbe103d60c35341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e239ccd624fa1" /><Relationship Type="http://schemas.openxmlformats.org/officeDocument/2006/relationships/image" Target="/ppt/media/image22.png" Id="R4c7c29de48584e99" /><Relationship Type="http://schemas.openxmlformats.org/officeDocument/2006/relationships/notesSlide" Target="/ppt/notesSlides/notesSlide21.xml" Id="R1f20a33a217045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2fef75c5e492b" /><Relationship Type="http://schemas.openxmlformats.org/officeDocument/2006/relationships/image" Target="/ppt/media/image23.png" Id="Rd2c2d6560d57452b" /><Relationship Type="http://schemas.openxmlformats.org/officeDocument/2006/relationships/notesSlide" Target="/ppt/notesSlides/notesSlide22.xml" Id="R01d8b3a3e5ac40c2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5F5F5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2" name="">
            <ns1:extLst>
              <ns1:ext uri="{FF2B5EF4-FFF2-40B4-BE49-F238E27FC236}">
                <ns2:creationId id="{8B872DFE-0F7D-4A7E-B79B-E5CCB643AB48}"/>
              </ns1:ext>
            </ns1:extLst>
          </ns0:cNvPr>
          <ns0:cNvPicPr>
            <ns1:picLocks noChangeAspect="1"/>
          </ns0:cNvPicPr>
          <ns0:nvPr/>
        </ns0:nvPicPr>
        <ns0:blipFill>
          <ns1:blip ns3:embed="R2c779e007e4d48c2"/>
          <ns1:stretch/>
        </ns0:blipFill>
        <ns0:spPr>
          <ns1:xfrm>
            <ns1:off x="457200" y="234950"/>
            <ns1:ext cx="1104900" cy="368300"/>
          </ns1:xfrm>
          <ns1:prstGeom prst="rect">
            <ns1:avLst/>
          </ns1:prstGeom>
        </ns0:spPr>
      </ns0:pic>
      <ns0:sp>
        <ns0:nvSpPr>
          <ns0:cNvPr id="2" name="">
            <ns1:extLst>
              <ns1:ext uri="{FF2B5EF4-FFF2-40B4-BE49-F238E27FC236}">
                <ns2:creationId id="{EA868AC1-CE3D-4092-8E0C-1B4DD6870E7A}"/>
              </ns1:ext>
            </ns1:extLst>
          </ns0:cNvPr>
          <ns0:cNvSpPr>
            <ns1:spLocks noGrp="1"/>
          </ns0:cNvSpPr>
          <ns0:nvPr/>
        </ns0:nvSpPr>
        <ns0:spPr>
          <ns1:xfrm>
            <ns1:off x="9144000" y="304800"/>
            <ns1:ext cx="2571750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pPr>
            <ns1:r>
              <ns1:rPr sz="975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rPr>
              <ns1:t>프로젝트 결과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D3723C5C-AC40-4F63-ACBB-658086F0E03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66775"/>
            <ns1:ext cx="11144250" cy="5238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pPr>
            <ns1:r>
              <ns1:rPr sz="25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rPr>
              <ns1:t>마음에 든 집, 놓친 건 없을까?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7C50CB4C-E875-4118-BE64-5853BAA02F6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1457325"/>
            <ns1:ext cx="11144250" cy="28575"/>
          </ns1:xfrm>
          <ns1:prstGeom prst="rect">
            <ns1:avLst/>
          </ns1:prstGeom>
          <ns1:solidFill>
            <ns1:srgbClr val="326CF9"/>
          </ns1:solidFill>
          <ns1:ln w="0">
            <ns1:noFill/>
          </ns1:ln>
        </ns0:spPr>
      </ns0:sp>
      <ns0:sp>
        <ns0:nvSpPr>
          <ns0:cNvPr id="5" name="">
            <ns1:extLst>
              <ns1:ext uri="{FF2B5EF4-FFF2-40B4-BE49-F238E27FC236}">
                <ns2:creationId id="{78594CC1-F2A0-48A8-9098-E7013AAF7699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6419850"/>
            <ns1:ext cx="10287000" cy="2095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pPr>
            <ns1:r>
              <ns1:rPr sz="90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rPr>
              <ns1:t>2026.10.23 | 실제 코드·집 API 검증 / 공개 프론트 최종 게시와 구분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B8B1EB4F-F83D-46F2-AC11-5C0FFE41508C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0" y="6419850"/>
            <ns1:ext cx="571500" cy="219075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pPr>
            <ns1:r>
              <ns1:rPr sz="1050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rPr>
              <ns1:t>01</ns1:t>
            </ns1:r>
          </ns1:p>
        </ns0:txBody>
      </ns0:sp>
      <ns0:pic>
        <ns0:nvPicPr>
          <ns0:cNvPr id="7" name="">
            <ns1:extLst>
              <ns1:ext uri="{FF2B5EF4-FFF2-40B4-BE49-F238E27FC236}">
                <ns2:creationId id="{1FFA5228-CDE9-4548-9FB3-85F7EDE83FCD}"/>
              </ns1:ext>
            </ns1:extLst>
          </ns0:cNvPr>
          <ns0:cNvPicPr>
            <ns1:picLocks noChangeAspect="1"/>
          </ns0:cNvPicPr>
          <ns0:nvPr/>
        </ns0:nvPicPr>
        <ns0:blipFill>
          <ns1:blip ns3:embed="R887c6cf19b3f4377"/>
          <ns1:stretch/>
        </ns0:blipFill>
        <ns0:spPr>
          <ns1:xfrm>
            <ns1:off x="714375" y="1957388"/>
            <ns1:ext cx="4429125" cy="1476375"/>
          </ns1:xfrm>
          <ns1:prstGeom prst="rect">
            <ns1:avLst/>
          </ns1:prstGeom>
        </ns0:spPr>
      </ns0:pic>
      <ns0:sp>
        <ns0:nvSpPr>
          <ns0:cNvPr id="8" name="">
            <ns1:extLst>
              <ns1:ext uri="{FF2B5EF4-FFF2-40B4-BE49-F238E27FC236}">
                <ns2:creationId id="{42F01D18-A49B-4F63-A6CE-B26992BEE84B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3790950"/>
            <ns1:ext cx="10763250" cy="5334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defRPr>
            </ns1:pPr>
            <ns1:r>
              <ns1:rPr sz="2850" b="1">
                <ns1:solidFill>
                  <ns1:srgbClr val="222222"/>
                </ns1:solidFill>
                <ns1:latin typeface="Paperlogy"/>
                <ns1:ea typeface="Paperlogy"/>
                <ns1:cs typeface="Paperlogy"/>
              </ns1:rPr>
              <ns1:t>최종 프로젝트 자료</ns1:t>
            </ns1:r>
          </ns1:p>
        </ns0:txBody>
      </ns0:sp>
      <ns0:sp>
        <ns0:nvSpPr>
          <ns0:cNvPr id="9" name="">
            <ns1:extLst>
              <ns1:ext uri="{FF2B5EF4-FFF2-40B4-BE49-F238E27FC236}">
                <ns2:creationId id="{5BB29585-E6F0-4485-9278-1285702D77D0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4514850"/>
            <ns1:ext cx="1076325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pPr>
            <ns1:r>
              <ns1:rPr sz="2100" b="0">
                <ns1:solidFill>
                  <ns1:srgbClr val="326CF9"/>
                </ns1:solidFill>
                <ns1:latin typeface="Paperlogy"/>
                <ns1:ea typeface="Paperlogy"/>
                <ns1:cs typeface="Paperlogy"/>
              </ns1:rPr>
              <ns1:t>명세서 · 화면설계 · ERD · 기능 설명</ns1:t>
            </ns1:r>
          </ns1:p>
        </ns0:txBody>
      </ns0:sp>
      <ns0:sp>
        <ns0:nvSpPr>
          <ns0:cNvPr id="10" name="">
            <ns1:extLst>
              <ns1:ext uri="{FF2B5EF4-FFF2-40B4-BE49-F238E27FC236}">
                <ns2:creationId id="{C95191EC-9291-4E1D-8939-A097796C8A71}"/>
              </ns1:ext>
            </ns1:extLst>
            <ns1:hlinkClick ns3:id="rIdServiceLink"/>
          </ns0:cNvPr>
          <ns0:cNvSpPr>
            <ns1:spLocks noGrp="1"/>
          </ns0:cNvSpPr>
          <ns0:nvPr/>
        </ns0:nvSpPr>
        <ns0:spPr>
          <ns1:xfrm>
            <ns1:off x="714375" y="5305425"/>
            <ns1:ext cx="10763250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defRPr>
            </ns1:pPr>
            <ns1:r>
              <ns1:rPr sz="1875" b="1">
                <ns1:solidFill>
                  <ns1:srgbClr val="326CF9"/>
                </ns1:solidFill>
                <ns1:latin typeface="Paperlogy"/>
                <ns1:ea typeface="Paperlogy"/>
                <ns1:cs typeface="Paperlogy"/>
              </ns1:rPr>
              <ns1:t>서비스 바로가기 → 월세구멍</ns1:t>
            </ns1:r>
          </ns1:p>
        </ns0:txBody>
      </ns0:sp>
      <ns0:sp>
        <ns0:nvSpPr>
          <ns0:cNvPr id="11" name="">
            <ns1:extLst>
              <ns1:ext uri="{FF2B5EF4-FFF2-40B4-BE49-F238E27FC236}">
                <ns2:creationId id="{82957FFF-E175-423E-99B6-BEE63C95607A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5772150"/>
            <ns1:ext cx="10763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anchor="t"/>
          <ns1:lstStyle>
            <ns1:def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defPPr>
            <ns1:lvl1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1pPr>
            <ns1:lvl2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2pPr>
            <ns1:lvl3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3pPr>
            <ns1:lvl4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4pPr>
            <ns1:lvl5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5pPr>
            <ns1:lvl6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6pPr>
            <ns1:lvl7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7pPr>
            <ns1:lvl8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8pPr>
            <ns1:lvl9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lvl9pPr>
          </ns1:lstStyle>
          <ns1:p>
            <ns1:pPr>
              <ns1:def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defRPr>
            </ns1:pPr>
            <ns1:r>
              <ns1:rPr sz="1350" b="0">
                <ns1:solidFill>
                  <ns1:srgbClr val="656565"/>
                </ns1:solidFill>
                <ns1:latin typeface="Paperlogy"/>
                <ns1:ea typeface="Paperlogy"/>
                <ns1:cs typeface="Paperlogy"/>
              </ns1:rPr>
              <ns1:t>발표자가 서버 연결 후 시연합니다. 접속키는 별도 보관합니다.</ns1:t>
            </ns1:r>
          </ns1:p>
        </ns0:txBody>
      </ns0:sp>
    </ns0:spTree>
    <ns0:extLst>
      <ns0:ext uri="{BB962C8B-B14F-4D97-AF65-F5344CB8AC3E}">
        <ns4:creationId val="1492413462"/>
      </ns0:ext>
    </ns0:extLst>
  </ns0:cSld>
</ns0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0B681-C713-40D4-B8DB-F02A4264C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11282b6ba496a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C8009-2DE6-4F47-9975-52421E87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01 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E1CB3-4C3B-47FD-B3C9-6F82017C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월세와 관리비를 구분해 판단을 돕습니다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44421-E253-4F04-A718-1116C26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32EAB-CA78-4FD8-B201-88EE9A2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EDA65-665C-4D45-B119-5E42B0B4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8A4B5-BFAC-4091-9236-24E4784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E4F4A-55DF-4FE6-9458-DAE146A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사용자에게 필요한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8247B-4005-496B-8A1A-45C54720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입력한 월세가 유사 실거래와 얼마나 다른지 금액·퍼센트·비교 근거로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63331-16AA-4078-B1A1-997E92D7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0CECF-5A4E-4434-AD14-232BE7BC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관리비는 별도로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8DCCB-87EF-468A-9F03-151CDFC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포함 항목과 총액을 입력합니다. 분석가 자료가 있는 항목만 참고비용을 보여줍니다.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B40C0-E719-41E5-8423-76F16C68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D4E60-2E15-4538-8D2E-371B7E6E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확인할 수 있는 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2EFDF-61B2-4944-A1FD-A2FE6520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조건이 비슷한 거래의 기준 가격 범위, 표본 수, 신뢰도·보류 사유, 자료 없는 항목.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6CB72-2303-4370-98A0-259D86AC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E9C5D-3796-4041-BD47-DC8A9CA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확인할 수 없는 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95D06-97E1-408E-B790-E232C81F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가격 차이만으로 사기·불법을 판정하지 않습니다. 개별 주소의 실제 고지서를 안다고 표시하지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90861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E617E-879C-4732-8E8B-B37CEF90F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148f39e824854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45F35-4DBF-4261-8C6D-D1B7D33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01 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FAB0D-0F6F-4E7F-9436-166D4B05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지원 범위는 로드된 자료를 따릅니다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3DF7A-4227-4785-A9CA-058C4DDD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EA82B-7076-4901-A048-B903B600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5D11F-561B-459B-8CAE-D5C282B6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1C05-A42B-4675-8990-E85E093D984C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381500"/>
                <a:gridCol w="514350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구분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현재 범위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주의할 점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지역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서울의 로드된 구·주택 유형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전국 지원으로 표시하지 않음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월세 비교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같은 동 → 조건 완화 → 같은 구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같은 건물 우선 비교는 비활성화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주택 유형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아파트·연립다세대·오피스텔·단독다가구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유형별 면적·지번 제약은 분석 계약 적용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이미지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다방·직방 목록 판독과 부분 필드 연결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모든 사진·앱의 정확도 보장 아님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관리비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전기·수도·가스·인터넷·기타 5항목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원본·조건 없는 값은 null 유지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044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81C25-D284-4BC9-B04A-0A1F6C026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12c89f44a43df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FE0FD-77AD-41F9-9D3A-151F8DA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명세서·화면설계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88D06-0138-41AD-AB2F-A183EDD8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기능 명세 ① 입력과 사용자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3D0B6-535A-408C-8E0D-ECD5D5E8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86F4C-1DAB-4F01-B3B3-51B91657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A589D-454B-4550-A49C-1EE04216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668A7-9C46-4A17-B5B7-40FFD9A69444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14875"/>
                <a:gridCol w="4714875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기능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동작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완료 기준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직접 입력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주소·지역·유형·면적·보증금·월세 입력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금액 만원 / 면적 ㎡, 값 검증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캡처 입력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읽은 항목만 확인용 초안으로 전달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미기재 null, 불일치 값 자동 입력 금지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주소 후보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후보를 확인하고 법정동 코드와 연결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이미지 주소는 검색 확인 전 후보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관리비 입력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5개 체크박스 + 총액 한 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체크 INCLUDED / 미체크 UNKNOWN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최종 확인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사용자가 수정 후 확인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확인 전 분석 차단, 자동 확인 없음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03410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CF791-8E3B-43B9-8E4F-DE1FC2E40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2b429dde44058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FA54-A1B3-42E4-8C78-2313933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명세서·화면설계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693D2-09C8-463C-B0F3-C73436F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기능 명세 ② 분석 결과와 예외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FB6A7-69C2-46C4-8BEB-7B9F6D0A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3135E-69D8-40A8-B02F-A5231595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CC29B-A4B5-4697-BAA9-29887AA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CE6D7-3DE7-447C-AD2C-BFEBE14CD88C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14875"/>
                <a:gridCol w="4714875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기능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백엔드 응답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처리 기준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월세 결과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가격 범위·차액·차이율·표본·근거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기존 분석 값 보존, 참고용은 판정 억제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관리비 결과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선택/미선택 두 그룹, 범위와 가운데 값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가운데 값=(최소+최대)÷2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자료 부족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null·부족 사유·불완전 그룹 상태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없는 값을 0원으로 바꾸지 않음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저장·조회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매물·추출·분석·참고값 저장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소유 세션만 접근·삭제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오류·재시도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인증/입력/환경 오류 구분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중복 등록 방지, 기존 사용자 자료 보존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18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A258BE-0688-49C1-BEC2-50F85F809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1d74cdd564b36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B9DD6-922E-4537-A7CD-5EE3C5B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명세서·화면설계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2BDE-E823-43A4-BBF7-FE9FFB26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고객 화면에서 결과까지 이어지는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75E4-268D-4254-8F40-641DEA31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665B7-8F02-4C0F-911E-FD73B98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3268E-B0DC-407D-A21E-B342B5C1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90C25-9EB9-4833-9066-0A9F407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6D448-0758-4A27-9328-857225F6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DBD79-386F-4694-BD24-F4BE3BD0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방식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33AB3-F3D6-480B-9994-31657B9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직접 입력 또는 캡처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CD10E-9104-4C12-B211-C9BC24B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6742A-289F-4EEC-9034-35B42275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F522F-B504-48A1-B4A3-6D1EFAB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79AEB-86FB-4CAF-8BD4-0E63D166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정보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0AD0C-C58C-4EC2-B658-48535D3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읽은 값 확인·누락 보완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4FE87-BB0B-4D59-A284-8DE06686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D7D01-DF7B-4D25-A374-18567A0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77DA2-8874-48E4-ABC6-71D4435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E13349-62AC-48CF-A922-A7228057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상세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84F62-0ADB-4D7C-AFAF-2E94FE9E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지역·면적 기준·5항목·총액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0742D-1853-41EE-AFAF-5F5B8743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108B4-4F36-4392-AD6F-2ED509FA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DE2A7-6B4A-470C-99A6-780BB9A0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8B662-24D6-40AD-BAE6-7014F65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사용자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8A4CB-3702-4845-B9D9-21178928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등록 후 분석 요청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9196D-79FE-4D91-88FC-68156CE6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38C25-6E8D-4E03-AB4A-07396D41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4740A-FC19-4147-935D-3B19AA7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BBFA7-2FD6-4595-AB01-2591EE5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결과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CE995-3C1C-4640-85A5-A80C69B7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월세 차이와 관리비 참고값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1A6DD7-DA09-4731-8FE6-C2F78FE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확인되지 않은 값은 채우지 않으며, 사용자 확인 후에만 등록·분석합니다.</a:t>
            </a:r>
          </a:p>
        </p:txBody>
      </p:sp>
    </p:spTree>
    <p:extLst>
      <p:ext uri="{BB962C8B-B14F-4D97-AF65-F5344CB8AC3E}">
        <p14:creationId xmlns:p14="http://schemas.microsoft.com/office/powerpoint/2010/main" val="759007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B7389-DB1E-4BB0-B4C2-2A7799E27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a240a1d6e4f73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708D8-CD44-43A5-98E7-0DF2EDC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명세서·화면설계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3B64-60F2-40AB-A3E2-5531ABC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화면 ① 시작·주소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D3BB2-0DD9-4910-94D8-24B1B27B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8D2AA-61B8-4484-B0C6-8DCABCD3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A5EC6-69D9-4ACC-BFD9-A85095B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90933-BD77-4F05-A2D1-45E701A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E29D7-B664-478A-ABE1-74AF88B0E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b55444600475f"/>
          <a:srcRect xmlns:a="http://schemas.openxmlformats.org/drawingml/2006/main" l="34200" t="0" r="35300" b="0"/>
          <a:stretch xmlns:a="http://schemas.openxmlformats.org/drawingml/2006/main"/>
        </p:blipFill>
        <p:spPr>
          <a:xfrm xmlns:a="http://schemas.openxmlformats.org/drawingml/2006/main">
            <a:off x="6191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A816A-01F6-45AA-890F-00E6977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CA8EB-7B68-4DE5-8CD1-D046BE0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월세구멍 게시 페이지의 시작 화면입니다. 4단계 진행, 캡처/주소 탭과 직접 입력 경로를 확인했습니다.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EAEF8-2ADA-4B66-96D9-7AF3387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BE332-67E0-414C-8696-29C46C390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1de088bd14002"/>
          <a:srcRect xmlns:a="http://schemas.openxmlformats.org/drawingml/2006/main" l="34200" t="0" r="35300" b="0"/>
          <a:stretch xmlns:a="http://schemas.openxmlformats.org/drawingml/2006/main"/>
        </p:blipFill>
        <p:spPr>
          <a:xfrm xmlns:a="http://schemas.openxmlformats.org/drawingml/2006/main">
            <a:off x="62960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0B84D-E37A-4E4C-BCB5-75BC70D0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BF7D-4BBD-41FE-B560-989ED56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페이지의 주소 입력 화면입니다. 이 화면 캡처에서는 주소 검색을 실행하지 않았습니다.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93043-29DE-430C-8AD5-01DF42C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007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출처: 실제 월세구멍 공개 페이지 / 2026-10-23 캡처 / 입력 화면</a:t>
            </a:r>
          </a:p>
        </p:txBody>
      </p:sp>
    </p:spTree>
    <p:extLst>
      <p:ext uri="{BB962C8B-B14F-4D97-AF65-F5344CB8AC3E}">
        <p14:creationId xmlns:p14="http://schemas.microsoft.com/office/powerpoint/2010/main" val="1542650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D5591-B05A-42EF-92A8-CB0F9FD677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2865a35d94273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C645C-0798-4DAD-A98F-B8E3FD87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명세서·화면설계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6309-5663-466C-BDAF-8BB80917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화면 ② 상세 입력·관리비 체크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8A27-2183-43C3-9D6A-D4F8B12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1364D-C7EB-42F9-A3AD-7F88E2F4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8FAC1-9BA8-4C1B-B959-EA080B3D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2D94B-7CA2-41EE-B135-B6B12E23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C505B-30A3-4F88-BF86-DCB6FBC920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eccee65564a47"/>
          <a:srcRect xmlns:a="http://schemas.openxmlformats.org/drawingml/2006/main" l="34200" t="0" r="35300" b="0"/>
          <a:stretch xmlns:a="http://schemas.openxmlformats.org/drawingml/2006/main"/>
        </p:blipFill>
        <p:spPr>
          <a:xfrm xmlns:a="http://schemas.openxmlformats.org/drawingml/2006/main">
            <a:off x="6191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95D1A-51BE-43D7-A8DC-AC73F172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6E04D-B904-4046-B2DE-D0AE082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게시 페이지에서 열린 상세 입력 화면입니다. 필수 조건과 고객 확인 절차를 표시합니다.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4DED-65CD-44CE-9ABC-F8DFE626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71978-4C92-44CB-9CF4-FE26A5D6B6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a1d483c6243a1"/>
          <a:srcRect xmlns:a="http://schemas.openxmlformats.org/drawingml/2006/main" l="34200" t="0" r="35300" b="0"/>
          <a:stretch xmlns:a="http://schemas.openxmlformats.org/drawingml/2006/main"/>
        </p:blipFill>
        <p:spPr>
          <a:xfrm xmlns:a="http://schemas.openxmlformats.org/drawingml/2006/main">
            <a:off x="62960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AB892-135C-4029-9349-4434043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71796-05FF-4291-9835-82B7204E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관리비 입력은 5개 체크박스와 총액입니다. 현재 안내는 선택 항목 결과만 표시하므로 미선택 결과는 남은 차이로 기록했습니다.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BB6C5-EA30-407C-BC07-F57F52B3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007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출처: 실제 월세구멍 공개 페이지 / 2026-10-23 캡처 / 입력 화면</a:t>
            </a:r>
          </a:p>
        </p:txBody>
      </p:sp>
    </p:spTree>
    <p:extLst>
      <p:ext uri="{BB962C8B-B14F-4D97-AF65-F5344CB8AC3E}">
        <p14:creationId xmlns:p14="http://schemas.microsoft.com/office/powerpoint/2010/main" val="1892073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A3264-E634-4F2D-B912-BC12C8FA8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a563f47054b11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54698-70FD-405E-8EC0-44E5AAA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02 실제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F3557-94D2-44CE-B6DE-9C1217AC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실제 화면 ③ 집 서버 연결·분석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1AC67-6B99-434C-8951-4F3FBDF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CEFEF-F8A8-4BA6-98BD-2A75EBC0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33BB6-E6EE-409A-872E-0E44C9F1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A54E8-91FF-4CAA-AA50-7A741B7B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C7501-E977-46FA-A237-08BBF59B39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04e0970cd438d"/>
          <a:srcRect xmlns:a="http://schemas.openxmlformats.org/drawingml/2006/main" l="17000" t="0" r="19200" b="0"/>
          <a:stretch xmlns:a="http://schemas.openxmlformats.org/drawingml/2006/main"/>
        </p:blipFill>
        <p:spPr>
          <a:xfrm xmlns:a="http://schemas.openxmlformats.org/drawingml/2006/main">
            <a:off x="6191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11A8E-7FF9-4A0D-9325-405D2E4B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CD5E2-1417-4B6A-9721-E03A455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가상 매물로 실제 연결했습니다. 월세 80만 원 / 기준 180만 원 → 100만 원 낮음. 상세 근거는 −55.6%, 43건, 기준일 2026-10-16입니다.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151FC-6E27-4742-99D3-E3227045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24025"/>
            <a:ext cx="5467350" cy="4438650"/>
          </a:xfrm>
          <a:prstGeom xmlns:a="http://schemas.openxmlformats.org/drawingml/2006/main" prst="roundRect">
            <a:avLst>
              <a:gd name="adj" fmla="val 30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6BE7D-9F45-47BD-AAFC-231B2499E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8543428bc48e3"/>
          <a:srcRect xmlns:a="http://schemas.openxmlformats.org/drawingml/2006/main" l="17000" t="0" r="19200" b="0"/>
          <a:stretch xmlns:a="http://schemas.openxmlformats.org/drawingml/2006/main"/>
        </p:blipFill>
        <p:spPr>
          <a:xfrm xmlns:a="http://schemas.openxmlformats.org/drawingml/2006/main">
            <a:off x="6296025" y="1819275"/>
            <a:ext cx="2362200" cy="4191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2517A-9E61-45DF-A581-8C664E56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71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1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78CB5-C626-413C-82CB-65A70291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47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현재 공개 화면: 선택한 전기·인터넷은 범위, 수도는 자료 없음. 가운데 금액과 미선택 항목 표시는 프론트 후속 작업입니다. 정확도 검증 사례가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FDF26-E313-4ABA-88F6-7D7542A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00775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82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출처: 실제 공개 사이트 + 집 API / 가상 매물 연결 시험 / 2026-10-23 / 정확도 검증 아님</a:t>
            </a:r>
          </a:p>
        </p:txBody>
      </p:sp>
    </p:spTree>
    <p:extLst>
      <p:ext uri="{BB962C8B-B14F-4D97-AF65-F5344CB8AC3E}">
        <p14:creationId xmlns:p14="http://schemas.microsoft.com/office/powerpoint/2010/main" val="200228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9BED1-047D-4769-8222-22374F2E6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95e8f9a7b4b76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C00EB-E9D2-45F6-91C4-A527187D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6D990-5EC1-486F-84C2-6FCD619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서비스 시스템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C519A-94B6-4685-997F-34B26A76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B8978-4C70-40F4-B427-42E51A5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E71F2-4233-4F91-B48D-6770E6BC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0548-E379-49A9-9C81-B2905396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26289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03C46-559A-47B5-99FD-411CF11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84B67-5C44-4E1F-BC90-D8CD416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프론트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4F077-95BD-4903-B65B-C433C3B9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입력·확인·표시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FFA93-2391-4DD3-B1C2-37292BC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F7808-C483-4652-8055-DF2BE743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24050"/>
            <a:ext cx="26289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04B6C-EBF4-42F8-BE6C-B5E0492E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95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73B15-0EF3-42AC-A50A-CCE097C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5C551-C02E-451E-A815-DE54E262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0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세션·검증·분석 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491B1-697D-4CC0-9C2C-E835D9E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527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0DD62-47DE-4F00-8C93-DB5A4D2D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24050"/>
            <a:ext cx="26289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ABFD9-98AA-4CCE-9E64-95FEEC8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95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FA390-D49B-4886-9E45-FC5A7E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분석 코드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28E85-386B-4886-90D7-77B772CD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00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월세·관리비·OCR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BB386-64D2-4109-85F4-6DD9EBFB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527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16BFF-41C8-49E3-9A81-8E8F9166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24050"/>
            <a:ext cx="26289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EC60B-8062-466D-8582-8C208DD7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95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5F231-9361-42C7-9E5B-031651E2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479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MySQL / 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7B0D0-F34B-4B15-A745-877A02F0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00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사용자 기록 / 비교 근거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8EEE2-0E38-4D92-BBD6-5A79674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87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프론트 → API → 분석 결과 →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A42EF2-B336-44D9-9D4D-AA5792D2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집 PC의 로컬 API와 MySQL에 HTTPS 터널로 연결합니다. 관리용 SSH는 별도입니다.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7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MySQL 사용자 기록과 실거래 CSV·관리비 기준 자료를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820550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8C46F-81E6-47B3-B9DA-C0AA8EA207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30aae30554456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9F95D-ACB8-4A92-AE29-37F22E5A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B2AF4-322B-4F3E-94CC-36F8276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프론트가 사용하는 핵심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AA5B5-45A9-41E0-BB1B-FD66292B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D22B9-C0CA-4E92-A16F-ABD5032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E6946-C753-408D-A424-A291A2C4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6C696-6775-403A-BFD0-C1E03B663AA5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3048000"/>
                <a:gridCol w="3000375"/>
              </a:tblGrid>
              <a:tr h="61232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요청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역할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다음 단계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/sessions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별도 접속키로 세션 생성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Bearer 토큰 사용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/extractions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이미지 업로드·판독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GET /extractions/{id}/listing-draft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/extractions/{id}/cards/{index}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복수 카드에서 선택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선택 초안 확인·보완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/listings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고객 확인한 매물 등록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/listings/{id}/analyses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POST /listings/{id}/maintenance-references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관리비 참고값 계산·저장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GET /maintenance-references/{id}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GET /listings/{id}/report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저장된 월세·관리비 결과 조회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화면 표시·수정·재분석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976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06F5A8-60E2-49B2-ACCB-E721CF9E5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3c47c6c9d4400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57062-0C7F-4FDB-83B3-875F8F80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02A87-AC4E-415D-B7D7-54AC1AFA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ERD - 운영 MySQL의 실제 테이블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E21E-CEBB-46C2-89C3-3578842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61063-288F-48DC-BCE9-6BB82525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A8AB-72B4-49BD-9816-D0141D22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0B424-C3A2-4AFC-8345-110EBC95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2571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F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55F88-545A-4924-B5B0-C3B14431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2571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56EC1-76A3-4DBA-B659-8607DCB6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6F185-FAE1-4ED9-85B1-BE47A94D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8704A-CC69-4F63-BA73-482AC07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token_hash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3A166-A5DC-405B-8538-EABB410E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62275"/>
            <a:ext cx="2343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created_at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BBDC9-E695-45C1-B58F-C910786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3619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F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021D3-9BD3-47DD-8A09-18830A9F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76400"/>
            <a:ext cx="361950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5E5C3-9922-40D6-A057-6C52BB6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7165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700B3-112F-438E-AA1A-A74CBCB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AA3D0-7029-4907-BCE3-7A476FD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FK owner → sessions.id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D07FB-DB0C-4BFA-8B5B-1D1F0CC6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FK parent → objects.id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8805C-48C8-4C84-8D59-E3EEEE26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kind / payload / created_at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25AC9-9BD6-430A-80F9-E9AC338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28575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F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819E8-B3FC-42DF-AB55-92BA781C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285750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C2D9B-D72E-4ECB-8E7D-CA5B497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71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object_links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BDA5A-BD25-4950-B321-1AAB0604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907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PK,FK object_id → objects.id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A5CA5-60CD-42BF-BBB9-3B12770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5FEAA-9F2F-465B-A104-15C8659A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2415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FK target_id → objects.id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44C132-4822-4282-80B5-602F0ED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361950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F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DCC55-D365-4A04-802F-14130FF8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361950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6798C-022F-455F-AE0D-D564E38B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listing_maintenance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2DA8B-E01C-4B6A-935E-50D0724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7680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PK,FK listing_id → objects.id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11BB7-72B8-40BD-A4B2-952A864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43500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amount / user_confirmed / note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907D6E-BB3F-4D60-A9EF-EDC0FCE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857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DFD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0666E-5DFD-4852-8C69-DA16FEB6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62450"/>
            <a:ext cx="285750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5DF5D-412D-400B-A6C2-A5516646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577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listing_maintenance_items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CF44C-9BE8-4F74-BFCF-9DE9A2C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768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PK,FK listing_id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1651F-D3EF-448C-90CA-5D189A1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1435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→ listing_maintenance.listing_id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8ABC4F-5016-4922-B1E5-9CFD97D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4102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PK item / status / raw_status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75F13-B345-465E-8E4B-E8D4D3A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76900"/>
            <a:ext cx="2628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amount_10k_krw / label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6E168-47A5-430B-A5AF-61056A5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24125"/>
            <a:ext cx="10953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0085D7-C38F-4A6E-9141-4746F28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 : 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4645F0-BA6B-4755-ACC3-CE3EA609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1000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313294-162B-43FA-82A4-FF81783D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 : 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042D55-129D-492A-B8B3-CEE9D476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24225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707725-73C4-4226-92E7-B56B50E8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200" b="0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매물 1 :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3D70B-106B-4849-99CA-B1AFBA4E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1000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1C4FDF-68E8-4C40-B1C1-8DF5B722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125" b="0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 : 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67A932-7E85-4D3C-A7CA-2C26103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12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자기참조: objects.parent / object_links의 두 외래키는 모두 objects.id 참조</a:t>
            </a:r>
          </a:p>
        </p:txBody>
      </p:sp>
    </p:spTree>
    <p:extLst>
      <p:ext uri="{BB962C8B-B14F-4D97-AF65-F5344CB8AC3E}">
        <p14:creationId xmlns:p14="http://schemas.microsoft.com/office/powerpoint/2010/main" val="748459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6427A-F606-4CCA-8FAA-5E3F7A5B0D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1f6cc2191463b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D1CDA-1F73-428D-AF3D-4383E9C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1565E-9166-45AC-B88F-691CE9F0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테이블 명세 - 무엇을 어디에 저장하나요?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D03E-418D-448D-ADDF-B1E3C8A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616B-4213-48B6-859F-816BB922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B8C2E-035A-4C6D-A589-B6750D9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FDAB8-DB9F-4E01-8145-FB49A1840D90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286250"/>
                <a:gridCol w="3667125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테이블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주요 컬럼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저장 내용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sessions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id PK / token_hash / created_at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세션 인증. 원문 토큰 저장 안 함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objects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id PK / owner FK / kind / parent FK / payload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매물·추출·월세 분석·관리비 참고·재시도 기록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object_links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object_id PK,FK / relation PK / target_id FK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원본 추출·이전 매물과의 연결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listing_maintenance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listing_id PK,FK / amount_10k_krw / user_confirmed / note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고객 입력 관리비 총액·확인 여부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listing_maintenance_items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listing_id PK,FK / item PK / status / raw_status / amount_10k_krw / label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항목별 포함 상태. 과거 7항목 원문 보존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3026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69827E-D3F2-428F-B596-35C38F871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59a5f466e4f80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37F02-5BFF-4774-BF76-B346E5C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DCDB8-6E54-4752-A370-BD12C098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월세 분석 - 기존 동네 비교 계약 유지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47960-7E31-4749-9D6A-F67FA394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1B69E-797A-48BD-9049-6ECBC99F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F2CFD-D1E4-482F-9DC8-4BF5DBBB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9600C-C6ED-4770-88FF-E7264785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CEFDA-3FC9-4A10-B24A-ECF6C091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112C7-5D3C-4385-9C68-9A4D4715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확인한 매물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982A6-AA4B-4169-A674-61C6BE3B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지역·유형·면적·금액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69B60-AC8A-4813-A19E-6362EE9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41866-F019-4829-88A4-CA332D85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ACD47-3E12-4A46-85B1-CFDD3B2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54E0C-CCD6-47C0-9FA2-1A1FD972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기존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928F8-ED11-44B0-A7B1-330C1F25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정규화 + 기존 계약 +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D88E4-BE18-43C8-B9E9-558CAD6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10BCB-26B2-4131-8681-EA24A8B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ACF43-49BB-4BD9-B93C-6D86BD75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BB66F-3455-4555-8C22-6468F63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비교 거래 선별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F0618D-1EB8-46BC-8CAC-E26228A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동 단위 → 완화 → 구 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0B251-36A6-4EE2-B519-04C475C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3ED93-1943-4A04-A7ED-8DB405C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7E712-F7D3-486F-A7BC-EC87CC6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22276-1DC4-4DAD-859D-5EC3B369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가격 위치 계산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D03B9-4B01-45A2-ACC9-F810015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범위·차액·비율·표본·신뢰도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239E4-185A-49B6-866E-A2FDD5CA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DE03D-B9E5-4D75-9281-41C5658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D90044-7DC4-4D59-884D-D93A819E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61BC5-F1EB-4163-8936-8A9A070E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결과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5F3F7-0B7A-448F-A6EE-29E1C9C8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개별 거래 목록은 현재 미제공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53FDD-07A7-43A9-9025-29B818D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확인되지 않은 값은 채우지 않으며, 사용자 확인 후에만 등록·분석합니다.</a:t>
            </a:r>
          </a:p>
        </p:txBody>
      </p:sp>
    </p:spTree>
    <p:extLst>
      <p:ext uri="{BB962C8B-B14F-4D97-AF65-F5344CB8AC3E}">
        <p14:creationId xmlns:p14="http://schemas.microsoft.com/office/powerpoint/2010/main" val="239391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E01ED-991B-4DED-8F95-879578962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6084a9f7d470f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53409-C5E3-4E4F-844A-7C25563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2659-D4C3-4AB6-B020-623A1EAA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관리비 분석 - 5항목을 따로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E1F3D-9AED-45DA-8D23-CAD24C6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DD330-CC99-4DDC-A4B2-F29F2440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FEA7E-9573-4007-8739-233A883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0F37A-1786-476C-AD47-19BAD1A5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F67D4-DFD8-4F5C-A7DE-F02226F2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고객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40F66-E875-462A-BE71-EC082F5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체크한 항목과 총액을 저장합니다. 항목별 실제 금액을 고객에게 따로 입력시키지 않습니다.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C5D29-BA03-4284-A3EF-539491AE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B0D8D-9642-4D30-B064-F509FC5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참고값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D69C5-FEC9-41C3-8158-F38A0AB8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분석가의 조건별 최소·최대 참고값을 사용합니다. 대표값은 (최소+최대)÷2입니다.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C7378-52B1-4ED7-98D8-7C1F705E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90552-10C5-4301-A067-98A4F27F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실제 API 연결 시험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9F64D-0488-4A95-B54D-898046E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가상 1인·10월 조건: 수도 10,950원 / 전기 35,350원 / 가스 30,320원 / 인터넷 23,800원.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5476A-A902-4B37-9DF5-3271779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607A0-5C19-4028-B418-E67E084E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미제공 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C0173-4513-4A48-92E0-13F8E41E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기타 null, 누락이 있는 묶음 합계 null. 입력 총액의 차액으로 기타를 만들지 않습니다. 숫자는 실제 고지서 검증이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25143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89188E-024A-411E-84FA-E54B9E011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0c4f746584091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3CC7D-C826-4C8C-865F-85152D0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03 시스템·ERD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9F1FF-6D02-4B08-B0FC-24178BFD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이미지 분석 - 읽은 항목만 초안으로 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91DB0-1341-400C-BB99-0D53B5CA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9E11D-ADE5-4FDB-9D4C-E9D0A75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017F8-0936-4879-AA84-6EE7C08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60520-B074-4DC6-BEC9-D20F040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DE7F7-A4EA-4FB8-9C70-5576B2C2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E4C99-8C2D-44A5-9D2A-E1E4A6A1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이미지 수신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86F62-158D-4DBD-8450-C0B4E92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크기·형식 검증, 임시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823F7-4488-4F7E-9721-79D08231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04AEC-8B56-4A45-A8BB-AFF38F5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7096B-EDB5-4F9C-BAEE-E4A2D409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567ED-3D81-4F2A-BDAA-CBE1B69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두 엔진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2F585-A6DA-46DE-9B5A-71F9081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8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엔진별 프로세스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F3070-7355-4E48-B246-A97FF60E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D1448-16BB-4CF1-9217-C7599AE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40414-8562-472E-BD9A-09980275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348DE-54A7-4804-BD1C-D212EEB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항목별 합의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39ED6-8314-413D-BD65-AD77AAA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일치한 값만 채움, 충돌은 비움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93A75-ECDA-4511-AB4A-7776E9C9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A69A4-F025-487D-BB66-8F5433D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99007-5B46-49BB-BE6F-C8E99C4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65A5B-988F-4524-8476-B90DFAFA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초안 반환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6DE32-49CB-48B8-AD44-66F36FC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주소만 읽혔으면 주소 후보만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3FB33-CA2C-4218-9A5A-83658204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331470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68843-D43E-4969-B0CA-DFDCC6D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286000"/>
            <a:ext cx="2061210" cy="2190750"/>
          </a:xfrm>
          <a:prstGeom xmlns:a="http://schemas.openxmlformats.org/drawingml/2006/main" prst="roundRect">
            <a:avLst>
              <a:gd name="adj" fmla="val 6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4FAC4-3B27-46D9-A351-A45B636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2457450"/>
            <a:ext cx="17183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22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89BE3-1018-47C9-ACB0-179F2FF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009900"/>
            <a:ext cx="171831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고객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43A67-162C-4FE4-A850-0602ACC2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365" y="3562350"/>
            <a:ext cx="171831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3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누락 보완 후 등록·분석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BA122-CD33-4544-8EF2-5FFC82A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15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확인되지 않은 값은 채우지 않으며, 사용자 확인 후에만 등록·분석합니다.</a:t>
            </a:r>
          </a:p>
        </p:txBody>
      </p:sp>
    </p:spTree>
    <p:extLst>
      <p:ext uri="{BB962C8B-B14F-4D97-AF65-F5344CB8AC3E}">
        <p14:creationId xmlns:p14="http://schemas.microsoft.com/office/powerpoint/2010/main" val="16380049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278CB-F0FB-4222-A972-E6BA21C54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94a42cb134bb5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3862-B3BA-4473-B87E-2387C6F2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04 검증·마무리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A313-E50C-46F9-811D-2DF2F12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검증 결과 - 구현과 정확도를 구분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9E36-FB6E-46B9-82AF-6589F57F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181A1-4236-469D-A200-C601D45F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C567D-B61F-464C-969B-FE906DE5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91680-C795-44D8-A5D0-E693A25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9CE3A-8382-464A-83A0-B306ED27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백엔드 회귀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F70FC-6E15-40E2-A85C-5A8824ED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최신 통합본 280개 통과 / 경고 4개. SQLite·격리 MySQL·접근 제어·재시도·영속성 포함.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3E8DE-73BA-4F80-BBB7-C402974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65E40-9E06-4474-A795-67BBB81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분석 코드 검사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916F-96E9-4524-BEBD-3539183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합의·열 분리·부분 필드 검사 3개 실패 0. 실제 이미지 전체 정확도 수치와 다릅니다.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1E015-95C8-4E9D-AA3B-C6522878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6CCCB-E6BD-4E29-B16F-8BEAA5B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집 실제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4FD24-1910-4BC9-9BA4-5CDE1FB6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원격 로그인 → DB 백업 → 코드 적용 → 재시작 → 월세 COMPARED·관리비 저장/조회 성공.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CF1B9-4C41-4BC5-9AC3-BC82505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8D94-DD2E-495B-A640-A593912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프론트 화면 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DEDBE-1878-4A6C-A474-7489041C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원본 복사본 브라우저 시험 2종 통과. 공개 사이트도 기존 키로 집 서버에 연결해 가상 매물 등록·분석·결과 표시를 확인했습니다.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66463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BD332-3C18-4072-9F32-F0FA014BC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baf6e3d454658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18A3F-93CE-4A1B-83B8-ADF82B7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04 검증·마무리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3AEDF-A7A4-4DC6-B19E-E9EB53FB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집 DB 집계 - 실제 조회한 행 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F7AE2-C8FE-4097-92A3-E897BD4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02179-0CCE-4086-A3D2-7A6F422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65A5A-AFB2-444A-91B5-CCFD5C90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5B0A6-94AD-4A72-9DEF-38AA1A328A2D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1809750"/>
                <a:gridCol w="428625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대상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행 수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의미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sessions / objects / object_links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5 / 27 / 1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공개 화면 추가 시험 전 집계 (가상 시험 기록 별도)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매물 / 월세 분석 / 관리비 참고 분석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6 / 6 / 1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objects.kind별 집계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관리비 총액 / 항목 상세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6 / 38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과거 7항목 4건 + 새 5항목 2건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새 입력 저장 시험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정확히 5행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시험 가상 매물은 삭제 완료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자료 보존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배포 전후 지문 동일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기존 objects 원본·키·환경 설정 보존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160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D77F1-75EC-46AC-AA3E-24360B6DE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7d5b56a1b40a7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78855-FD5E-455E-B044-7532837A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04 검증·마무리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6CBBC-4D2F-4897-A7B9-985F60A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현재 남은 일 - 없는 기능은 넣지 않습니다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7B8D4-C06E-41F1-A002-C876D431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189C2-76B7-4490-9E6F-1FC66C59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A66FC-C324-4B25-9085-D5507E2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19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E55F5-ACCE-46E9-84CF-3136D54B887D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857875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담당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남은 확인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구분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프론트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새 URL·미선택 그룹·대표값·주의 문구·최종 CSS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API 제공과 화면 반영은 별개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분석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새 부분 입력의 실제 캡처 평가·지원 범위 안내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합성/개발 표본을 정확도로 일반화 금지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백엔드/운영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집 PC·터널 유지, 최종 공개 화면 연동 확인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임시 URL은 재시작 시 바뀔 수 있음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공통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요구사항 명세서와 구현 차이 확인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원본 시트는 수정하지 않고 제안만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후속 범위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개별 비교 거래 목록·전국·사기 판정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현재 완료 기능으로 표시하지 않음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7959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38FB9-BF23-4AC1-A0EC-75BE2417C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d7f0e3ab94a9f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9C16C-2FDA-4425-89C5-DFF5FB4C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04 검증·마무리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3A188-3EED-47DE-A5CB-57F8648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시연 순서와 제출 근거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9996A-8D1B-443B-B98F-4831833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6FF05-7970-4F8B-ADC9-41CBE5C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508C-BA5B-4F89-AACA-125E23D1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5004F-05E2-4D19-9694-D4F7B8C1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B765B-5A42-4097-A8A2-CA74064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시연 1 직접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E1DB1-0264-491E-95F9-C7CBAF4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지역·유형·면적·금액 → 관리비 체크·총액 → 사용자 확인 → 월세 차액·관리비 참고값.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DB171-4C66-428F-9461-62715FBF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33550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94107-466D-4FBA-8D3E-1EBAE317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시연 2 캡처 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7C601-2954-4F8F-8FC8-9DE8803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384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지원 목록 캡처 → 가져온 값 확인·누락 보완 → 확인 → 저장·결과. 실제 이미지 오류 가능성도 안내.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97D0F-4961-42B2-851B-175453D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5082C-FBD5-45D9-9A0C-56B7625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시연 3 자료 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90CDF-52A0-4A38-A22D-F7D9A834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근거 없는 항목·기타는 자료 없음. 월세 참고용 상태에서 가격 판정을 과장하지 않습니다.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2D554-3D7E-47A0-A2E1-FC58BBBF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90975"/>
            <a:ext cx="546735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5EDDE-0E45-45C8-AA85-285130DC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81475"/>
            <a:ext cx="502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725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자료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C0AF7-DBA0-45EB-8A0B-9E0013D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1650" b="0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팀 적용 코드 856dc01 / 개인 적용 코드 99b94da. 실제 월세구멍 공개 입력 화면·집 API 검증 2026-10-23. 접속키·DB 원문 제외.</a:t>
            </a:r>
          </a:p>
        </p:txBody>
      </p:sp>
    </p:spTree>
    <p:extLst>
      <p:ext uri="{BB962C8B-B14F-4D97-AF65-F5344CB8AC3E}">
        <p14:creationId xmlns:p14="http://schemas.microsoft.com/office/powerpoint/2010/main" val="20912018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3ACC9-C6A3-4D15-90F7-BEF51E0FB5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29de48584e99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C6694-C5D7-4EB4-BD70-4849DB32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부록 · 제안만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76463-0FAE-4866-99B0-756790F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요구사항 수정 제안 1 - 원본 변경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8FF1F-507A-46C3-A43A-7A2D1B14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98363-68B6-49BD-9F08-FF2B02C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15FB0-E924-4C71-8279-1E74EAA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21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535FF-A7EE-4775-B077-BAF75AE45E78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571875"/>
                <a:gridCol w="5476875"/>
              </a:tblGrid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요구사항·셀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현재 문구·상태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수정 제안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014 · G15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포함 항목은 입력받지 않음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5항목 체크박스와 관리비 총액 한 칸을 받음. 미체크는 UNKNOWN, 미입력과 0원을 구분.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034 · G27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수도·전기·가스·인터넷 4항목과 합계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기타 포함 5항목. 선택/미선택을 구분하고 (최소+최대)÷2 표시. 누락 그룹 합계는 미제공.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035 · G28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입력 월세+관리비와 기준 월세+공과금 합계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비용 범위가 같은지 확인 전 합계 차이로 판단하지 않음. 선택/미선택 참고비용을 나누는 확정 방식 명시.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025 · J26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포함 항목을 입력받지 않는다는 전제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체크 항목은 확인하지만 미체크는 별도 청구 확정이 아님. 월세 차액에 관리비를 혼합하지 않는 규칙 유지.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3928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20DC3-F412-4C5A-8549-A52A716067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2d6560d57452b"/>
          <a:stretch xmlns:a="http://schemas.openxmlformats.org/drawingml/2006/main"/>
        </p:blipFill>
        <p:spPr>
          <a:xfrm xmlns:a="http://schemas.openxmlformats.org/drawingml/2006/main">
            <a:off x="457200" y="234950"/>
            <a:ext cx="1104900" cy="368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8E98F-46C9-4350-B309-619522D1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75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부록 · 제안만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38783-73B2-4276-9F8E-E254CC3B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defPPr>
            <a:lvl1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1pPr>
            <a:lvl2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2pPr>
            <a:lvl3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3pPr>
            <a:lvl4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4pPr>
            <a:lvl5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5pPr>
            <a:lvl6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6pPr>
            <a:lvl7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7pPr>
            <a:lvl8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8pPr>
            <a:lvl9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defRPr>
            </a:pPr>
            <a:r>
              <a:rPr sz="2550" b="1">
                <a:solidFill>
                  <a:srgbClr val="222222"/>
                </a:solidFill>
                <a:latin typeface="Paperlogy"/>
                <a:ea typeface="Paperlogy"/>
                <a:cs typeface="Paperlogy"/>
              </a:rPr>
              <a:t>요구사항 수정 제안 2 - 원본 변경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B655A-FBD2-48B6-91B7-844D0103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573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1DC86-D4BD-4676-AC59-F73665A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defPPr>
            <a:lvl1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1pPr>
            <a:lvl2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2pPr>
            <a:lvl3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3pPr>
            <a:lvl4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4pPr>
            <a:lvl5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5pPr>
            <a:lvl6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6pPr>
            <a:lvl7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7pPr>
            <a:lvl8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8pPr>
            <a:lvl9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defRPr>
            </a:pPr>
            <a:r>
              <a:rPr sz="900" b="0">
                <a:solidFill>
                  <a:srgbClr val="656565"/>
                </a:solidFill>
                <a:latin typeface="Paperlogy"/>
                <a:ea typeface="Paperlogy"/>
                <a:cs typeface="Paperlogy"/>
              </a:rPr>
              <a:t>2026.10.23 | 실제 코드·집 API 검증 / 공개 프론트 최종 게시와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4A55D-75DA-4090-83D8-A7E8C3B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defPPr>
            <a:lvl1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1pPr>
            <a:lvl2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2pPr>
            <a:lvl3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3pPr>
            <a:lvl4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4pPr>
            <a:lvl5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5pPr>
            <a:lvl6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6pPr>
            <a:lvl7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7pPr>
            <a:lvl8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8pPr>
            <a:lvl9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defRPr>
            </a:pPr>
            <a:r>
              <a:rPr sz="1050" b="1">
                <a:solidFill>
                  <a:srgbClr val="326CF9"/>
                </a:solidFill>
                <a:latin typeface="Paperlogy"/>
                <a:ea typeface="Paperlogy"/>
                <a:cs typeface="Paperlogy"/>
              </a:rPr>
              <a:t>22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E3347-21C2-4495-9DC8-53ECB73FDD49}"/>
              </a:ext>
            </a:extLst>
          </p:cNvPr>
          <p:cNvGraphicFramePr/>
          <p:nvPr/>
        </p:nvGraphicFramePr>
        <p:xfrm>
          <a:off xmlns:a="http://schemas.openxmlformats.org/drawingml/2006/main" x="523875" y="1752600"/>
          <a:ext xmlns:a="http://schemas.openxmlformats.org/drawingml/2006/main" cx="111442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571875"/>
                <a:gridCol w="5476875"/>
              </a:tblGrid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요구사항·셀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현재 문구·상태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수정 제안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T w="9525">
                      <a:solidFill>
                        <a:srgbClr val="DFDFDF"/>
                      </a:solidFill>
                      <a:prstDash val="solid"/>
                    </a:lnT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EAF0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002 · G3/J3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서울/전국·주택 유형이 논의 중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이번 MVP는 현재 로드된 서울 구·유형만 지원한다고 명시. 전국·추가 유형은 별도 확정.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006·010·017 · G7/G11/G18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건축물대장 자동 조회·갱신·불일치 비교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현재 완료로 표시하지 않기. 이번 범위 제외/후속 중 팀이 선택하고, 미조회 값은 직접 확인·입력.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007 · G8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이미지 정보를 추출하고 누락은 미입력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부분 이미지도 일치한 항목만 입력 후보로 제공. 충돌·단독 판독은 비움. 주소는 검색 확인 전 후보.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011 · G12</a:t>
                      </a:r>
                    </a:p>
                  </a:txBody>
                  <a:tcPr marL="114300" marR="114300" marT="95250" marB="95250" anchor="t">
                    <a:lnL w="9525">
                      <a:solidFill>
                        <a:srgbClr val="DFDFDF"/>
                      </a:solidFill>
                      <a:prstDash val="solid"/>
                    </a:lnL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직접 입력에서도 주소 검색으로 선택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Paperlogy"/>
                          <a:ea typeface="Paperlogy"/>
                          <a:cs typeface="Paperlogy"/>
                        </a:rPr>
                        <a:t>검색 필수 유지인지, 검색 실패 시 코드 검증을 거친 직접 입력 허용인지 팀 결정 필요. 자동 변경하지 않음.</a:t>
                      </a:r>
                    </a:p>
                  </a:txBody>
                  <a:tcPr marL="114300" marR="114300" marT="95250" marB="95250" anchor="t">
                    <a:lnR w="9525">
                      <a:solidFill>
                        <a:srgbClr val="DFDFDF"/>
                      </a:solidFill>
                      <a:prstDash val="solid"/>
                    </a:lnR>
                    <a:lnB w="9525">
                      <a:solidFill>
                        <a:srgbClr val="DFDF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388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aperlogy"/>
        <a:ea typeface=""/>
        <a:cs typeface=""/>
      </a:majorFont>
      <a:minorFont>
        <a:latin typeface="Paperlogy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2026-10-23T05:54:33.3070000Z</dcterms:created>
  <dcterms:modified xsi:type="dcterms:W3CDTF">2026-10-23T05:54:33.3070000Z</dcterms:modified>
</coreProperties>
</file>