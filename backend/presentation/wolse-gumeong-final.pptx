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b9f07dc2d8d4fa0" /><Relationship Type="http://schemas.openxmlformats.org/officeDocument/2006/relationships/extended-properties" Target="/docProps/app.xml" Id="R2f80d344273e4314" /><Relationship Type="http://schemas.openxmlformats.org/officeDocument/2006/relationships/officeDocument" Target="/ppt/presentation.xml" Id="R1ff41cabd557454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d83babf9a3e4071"/>
  </p:sldMasterIdLst>
  <p:notesMasterIdLst>
    <p:notesMasterId xmlns:r="http://schemas.openxmlformats.org/officeDocument/2006/relationships" r:id="R1ea3237b1f3f454d"/>
  </p:notesMasterIdLst>
  <p:sldIdLst>
    <p:sldId xmlns:r="http://schemas.openxmlformats.org/officeDocument/2006/relationships" id="256" r:id="R96ba789020a14cc7"/>
    <p:sldId xmlns:r="http://schemas.openxmlformats.org/officeDocument/2006/relationships" id="257" r:id="R3cebd12155d14750"/>
    <p:sldId xmlns:r="http://schemas.openxmlformats.org/officeDocument/2006/relationships" id="258" r:id="R13531124221c4205"/>
    <p:sldId xmlns:r="http://schemas.openxmlformats.org/officeDocument/2006/relationships" id="259" r:id="R71e198a1909d4e0c"/>
    <p:sldId xmlns:r="http://schemas.openxmlformats.org/officeDocument/2006/relationships" id="260" r:id="Re11bc9b642544c9e"/>
    <p:sldId xmlns:r="http://schemas.openxmlformats.org/officeDocument/2006/relationships" id="261" r:id="R9a4f92fb47064696"/>
    <p:sldId xmlns:r="http://schemas.openxmlformats.org/officeDocument/2006/relationships" id="262" r:id="Rab3f7604615d4009"/>
    <p:sldId xmlns:r="http://schemas.openxmlformats.org/officeDocument/2006/relationships" id="263" r:id="R3e171c838c92454c"/>
    <p:sldId xmlns:r="http://schemas.openxmlformats.org/officeDocument/2006/relationships" id="264" r:id="R7b863fce8f5c49df"/>
    <p:sldId xmlns:r="http://schemas.openxmlformats.org/officeDocument/2006/relationships" id="265" r:id="Rb05bb4d470184853"/>
    <p:sldId xmlns:r="http://schemas.openxmlformats.org/officeDocument/2006/relationships" id="266" r:id="Rae13c9100ad54d70"/>
    <p:sldId xmlns:r="http://schemas.openxmlformats.org/officeDocument/2006/relationships" id="267" r:id="Rf4bd4545d6e94597"/>
    <p:sldId xmlns:r="http://schemas.openxmlformats.org/officeDocument/2006/relationships" id="268" r:id="Rec943c6e93ae4c96"/>
    <p:sldId xmlns:r="http://schemas.openxmlformats.org/officeDocument/2006/relationships" id="269" r:id="Rb9f00fb340dc4a78"/>
    <p:sldId xmlns:r="http://schemas.openxmlformats.org/officeDocument/2006/relationships" id="270" r:id="R79f26ed651d6449e"/>
    <p:sldId xmlns:r="http://schemas.openxmlformats.org/officeDocument/2006/relationships" id="271" r:id="R4d9b1f2fe2404977"/>
    <p:sldId xmlns:r="http://schemas.openxmlformats.org/officeDocument/2006/relationships" id="272" r:id="R693b4942cc644244"/>
    <p:sldId xmlns:r="http://schemas.openxmlformats.org/officeDocument/2006/relationships" id="273" r:id="Rf03382c79b3c4f3c"/>
    <p:sldId xmlns:r="http://schemas.openxmlformats.org/officeDocument/2006/relationships" id="274" r:id="R32bdb839066c49e1"/>
    <p:sldId xmlns:r="http://schemas.openxmlformats.org/officeDocument/2006/relationships" id="275" r:id="Rd7ea76c6924548bb"/>
    <p:sldId xmlns:r="http://schemas.openxmlformats.org/officeDocument/2006/relationships" id="276" r:id="Rfa9967c122f2491c"/>
    <p:sldId xmlns:r="http://schemas.openxmlformats.org/officeDocument/2006/relationships" id="277" r:id="Rda3c73e7e5b744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15925f0e7045bf" /><Relationship Type="http://schemas.openxmlformats.org/officeDocument/2006/relationships/slideMaster" Target="/ppt/slideMasters/slideMaster1.xml" Id="R6d83babf9a3e4071" /><Relationship Type="http://schemas.openxmlformats.org/officeDocument/2006/relationships/notesMaster" Target="/ppt/notesMasters/notesMaster1.xml" Id="R1ea3237b1f3f454d" /><Relationship Type="http://schemas.openxmlformats.org/officeDocument/2006/relationships/presProps" Target="/ppt/presProps.xml" Id="Rf9b462ccb9e04c42" /><Relationship Type="http://schemas.openxmlformats.org/officeDocument/2006/relationships/tableStyles" Target="/ppt/tableStyles.xml" Id="R2cf0afd58a974ce9" /><Relationship Type="http://schemas.openxmlformats.org/officeDocument/2006/relationships/slide" Target="/ppt/slides/slide1.xml" Id="R96ba789020a14cc7" /><Relationship Type="http://schemas.openxmlformats.org/officeDocument/2006/relationships/slide" Target="/ppt/slides/slide2.xml" Id="R3cebd12155d14750" /><Relationship Type="http://schemas.openxmlformats.org/officeDocument/2006/relationships/slide" Target="/ppt/slides/slide3.xml" Id="R13531124221c4205" /><Relationship Type="http://schemas.openxmlformats.org/officeDocument/2006/relationships/slide" Target="/ppt/slides/slide4.xml" Id="R71e198a1909d4e0c" /><Relationship Type="http://schemas.openxmlformats.org/officeDocument/2006/relationships/slide" Target="/ppt/slides/slide5.xml" Id="Re11bc9b642544c9e" /><Relationship Type="http://schemas.openxmlformats.org/officeDocument/2006/relationships/slide" Target="/ppt/slides/slide6.xml" Id="R9a4f92fb47064696" /><Relationship Type="http://schemas.openxmlformats.org/officeDocument/2006/relationships/slide" Target="/ppt/slides/slide7.xml" Id="Rab3f7604615d4009" /><Relationship Type="http://schemas.openxmlformats.org/officeDocument/2006/relationships/slide" Target="/ppt/slides/slide8.xml" Id="R3e171c838c92454c" /><Relationship Type="http://schemas.openxmlformats.org/officeDocument/2006/relationships/slide" Target="/ppt/slides/slide9.xml" Id="R7b863fce8f5c49df" /><Relationship Type="http://schemas.openxmlformats.org/officeDocument/2006/relationships/slide" Target="/ppt/slides/slide10.xml" Id="Rb05bb4d470184853" /><Relationship Type="http://schemas.openxmlformats.org/officeDocument/2006/relationships/slide" Target="/ppt/slides/slide11.xml" Id="Rae13c9100ad54d70" /><Relationship Type="http://schemas.openxmlformats.org/officeDocument/2006/relationships/slide" Target="/ppt/slides/slide12.xml" Id="Rf4bd4545d6e94597" /><Relationship Type="http://schemas.openxmlformats.org/officeDocument/2006/relationships/slide" Target="/ppt/slides/slide13.xml" Id="Rec943c6e93ae4c96" /><Relationship Type="http://schemas.openxmlformats.org/officeDocument/2006/relationships/slide" Target="/ppt/slides/slide14.xml" Id="Rb9f00fb340dc4a78" /><Relationship Type="http://schemas.openxmlformats.org/officeDocument/2006/relationships/slide" Target="/ppt/slides/slide15.xml" Id="R79f26ed651d6449e" /><Relationship Type="http://schemas.openxmlformats.org/officeDocument/2006/relationships/slide" Target="/ppt/slides/slide16.xml" Id="R4d9b1f2fe2404977" /><Relationship Type="http://schemas.openxmlformats.org/officeDocument/2006/relationships/slide" Target="/ppt/slides/slide17.xml" Id="R693b4942cc644244" /><Relationship Type="http://schemas.openxmlformats.org/officeDocument/2006/relationships/slide" Target="/ppt/slides/slide18.xml" Id="Rf03382c79b3c4f3c" /><Relationship Type="http://schemas.openxmlformats.org/officeDocument/2006/relationships/slide" Target="/ppt/slides/slide19.xml" Id="R32bdb839066c49e1" /><Relationship Type="http://schemas.openxmlformats.org/officeDocument/2006/relationships/slide" Target="/ppt/slides/slide20.xml" Id="Rd7ea76c6924548bb" /><Relationship Type="http://schemas.openxmlformats.org/officeDocument/2006/relationships/slide" Target="/ppt/slides/slide21.xml" Id="Rfa9967c122f2491c" /><Relationship Type="http://schemas.openxmlformats.org/officeDocument/2006/relationships/slide" Target="/ppt/slides/slide22.xml" Id="Rda3c73e7e5b744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73c7431aecf49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aperlogy"/>
        <a:ea typeface=""/>
        <a:cs typeface=""/>
      </a:majorFont>
      <a:minorFont>
        <a:latin typeface="Paperlogy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655627b69054178" /><Relationship Type="http://schemas.openxmlformats.org/officeDocument/2006/relationships/notesMaster" Target="/ppt/notesMasters/notesMaster1.xml" Id="R9a51e6af87a84ab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7a9282d2b0d420e" /><Relationship Type="http://schemas.openxmlformats.org/officeDocument/2006/relationships/notesMaster" Target="/ppt/notesMasters/notesMaster1.xml" Id="Rae3c01efce4a48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b7150a9dce44cf5" /><Relationship Type="http://schemas.openxmlformats.org/officeDocument/2006/relationships/notesMaster" Target="/ppt/notesMasters/notesMaster1.xml" Id="Ra614b24a62e8475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25e626e635b42cc" /><Relationship Type="http://schemas.openxmlformats.org/officeDocument/2006/relationships/notesMaster" Target="/ppt/notesMasters/notesMaster1.xml" Id="Re161bec0526c493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fcf7c0ebe5c4f4c" /><Relationship Type="http://schemas.openxmlformats.org/officeDocument/2006/relationships/notesMaster" Target="/ppt/notesMasters/notesMaster1.xml" Id="R9406d1088f0f427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138dbc0d7c54777" /><Relationship Type="http://schemas.openxmlformats.org/officeDocument/2006/relationships/notesMaster" Target="/ppt/notesMasters/notesMaster1.xml" Id="R66897eec41c845c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d111a1a66e645ac" /><Relationship Type="http://schemas.openxmlformats.org/officeDocument/2006/relationships/notesMaster" Target="/ppt/notesMasters/notesMaster1.xml" Id="Rfc6b73691830471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e6ba663462034237" /><Relationship Type="http://schemas.openxmlformats.org/officeDocument/2006/relationships/notesMaster" Target="/ppt/notesMasters/notesMaster1.xml" Id="R09f903cefd764b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2339915d7d8429d" /><Relationship Type="http://schemas.openxmlformats.org/officeDocument/2006/relationships/notesMaster" Target="/ppt/notesMasters/notesMaster1.xml" Id="R36ee51b8a9344f2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2da8b2b5514051" /><Relationship Type="http://schemas.openxmlformats.org/officeDocument/2006/relationships/notesMaster" Target="/ppt/notesMasters/notesMaster1.xml" Id="Rfd9a6bb6ac8d4360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80c149d77884cc8" /><Relationship Type="http://schemas.openxmlformats.org/officeDocument/2006/relationships/notesMaster" Target="/ppt/notesMasters/notesMaster1.xml" Id="Rab5ba62565da47d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b9de11598a54ec8" /><Relationship Type="http://schemas.openxmlformats.org/officeDocument/2006/relationships/notesMaster" Target="/ppt/notesMasters/notesMaster1.xml" Id="R1cb1e7b4d76c4f6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6cac4e186d94c13" /><Relationship Type="http://schemas.openxmlformats.org/officeDocument/2006/relationships/notesMaster" Target="/ppt/notesMasters/notesMaster1.xml" Id="R17de65198eb74f0d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37bdf6021d5e4086" /><Relationship Type="http://schemas.openxmlformats.org/officeDocument/2006/relationships/notesMaster" Target="/ppt/notesMasters/notesMaster1.xml" Id="R225b679001294b3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036491d5dfe4729" /><Relationship Type="http://schemas.openxmlformats.org/officeDocument/2006/relationships/notesMaster" Target="/ppt/notesMasters/notesMaster1.xml" Id="R8f64a079ba0c460a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d9e3cd2dee4b50" /><Relationship Type="http://schemas.openxmlformats.org/officeDocument/2006/relationships/notesMaster" Target="/ppt/notesMasters/notesMaster1.xml" Id="R3004132f1adc436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c9ca5164cf2543b5" /><Relationship Type="http://schemas.openxmlformats.org/officeDocument/2006/relationships/notesMaster" Target="/ppt/notesMasters/notesMaster1.xml" Id="Rf44fa14a92b24423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7d4facf242c4931" /><Relationship Type="http://schemas.openxmlformats.org/officeDocument/2006/relationships/notesMaster" Target="/ppt/notesMasters/notesMaster1.xml" Id="Ra9a97381646f41f3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8bf23af0b7594742" /><Relationship Type="http://schemas.openxmlformats.org/officeDocument/2006/relationships/notesMaster" Target="/ppt/notesMasters/notesMaster1.xml" Id="R6af0153ab02a448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d59cf60ecdab4b8f" /><Relationship Type="http://schemas.openxmlformats.org/officeDocument/2006/relationships/notesMaster" Target="/ppt/notesMasters/notesMaster1.xml" Id="Rf80a371c4ad14d60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7a3823864034db9" /><Relationship Type="http://schemas.openxmlformats.org/officeDocument/2006/relationships/notesMaster" Target="/ppt/notesMasters/notesMaster1.xml" Id="R3d6070334d014a6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0a9511a3c9f44f0" /><Relationship Type="http://schemas.openxmlformats.org/officeDocument/2006/relationships/notesMaster" Target="/ppt/notesMasters/notesMaster1.xml" Id="R27847ac2b8494fa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페이지 https://munhwadream-rent-preview.zxaq3166.chatgpt.site/ 에서 캡처했습니다. 접속키는 포함하지 않았습니다. 결과 화면은 가상 매물의 실제 집 서버 연결 시험입니다.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페이지 https://munhwadream-rent-preview.zxaq3166.chatgpt.site/ 에서 캡처했습니다. 접속키는 포함하지 않았습니다. 결과 화면은 가상 매물의 실제 집 서버 연결 시험입니다.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실제 페이지 https://munhwadream-rent-preview.zxaq3166.chatgpt.site/ 에서 캡처했습니다. 접속키는 포함하지 않았습니다. 결과 화면은 가상 매물의 실제 집 서버 연결 시험입니다.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팀 main 코드 856dc01, 개인 집 적용 코드 99b94da 및 backend/HOME_VERIFIED_20261023.md. 실제 집 API·MySQL 집계 2026-10-23. 합성 연결 시험은 정확도 검증이 아닙니다.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요구사항 원본 초안 시트 A1:O100을 읽기만 했습니다. https://docs.google.com/spreadsheets/d/1D8E9QjkNiDwWqL32SAmZechF-bOX3Pjsi92FhLItBRE/edit?gid=1938341489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요구사항 원본 초안 시트 A1:O100을 읽기만 했습니다. https://docs.google.com/spreadsheets/d/1D8E9QjkNiDwWqL32SAmZechF-bOX3Pjsi92FhLItBRE/edit?gid=1938341489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b4b9c6253a04d05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ed167ef8614767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1adfd49eab14df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e2d6b8497084a8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3e60389c04745c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2f0e72a6666413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E28D8A8-5009-426D-B4F3-2C579F14C0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6357462D-99F9-42E5-AA81-29A1E7F865A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D6320AB3-F5A8-4FC6-90FE-D9910FA0380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E03A6BB-05A5-41FB-B83F-C3D8D102955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B41AA70-0AD6-48CF-A575-462298FFC38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3DBB294C-150A-4D6C-8411-51FDF10403E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58369C73-854E-4827-8402-9A5982009B6A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73C40D9-1900-451B-851E-F755FAA1F1E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4BCB849-9D94-4281-884D-97011C85DF2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0ABA4846-2BBF-49D3-828A-DA43EBA17B0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627b55bfda54557" /><Relationship Type="http://schemas.openxmlformats.org/officeDocument/2006/relationships/slideLayout" Target="/ppt/slideLayouts/slideLayout1.xml" Id="Rb33c3e8437a34d2f" /><Relationship Type="http://schemas.openxmlformats.org/officeDocument/2006/relationships/slideLayout" Target="/ppt/slideLayouts/slideLayout2.xml" Id="Rfa59c40f56644835" /><Relationship Type="http://schemas.openxmlformats.org/officeDocument/2006/relationships/slideLayout" Target="/ppt/slideLayouts/slideLayout3.xml" Id="Rf67961f5b647428c" /><Relationship Type="http://schemas.openxmlformats.org/officeDocument/2006/relationships/slideLayout" Target="/ppt/slideLayouts/slideLayout4.xml" Id="R4e8f4f6bce9b488b" /><Relationship Type="http://schemas.openxmlformats.org/officeDocument/2006/relationships/slideLayout" Target="/ppt/slideLayouts/slideLayout5.xml" Id="R7d223b2fc37a4e78" /><Relationship Type="http://schemas.openxmlformats.org/officeDocument/2006/relationships/slideLayout" Target="/ppt/slideLayouts/slideLayout6.xml" Id="Rb351a4e14bef4be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33c3e8437a34d2f"/>
    <p:sldLayoutId xmlns:r="http://schemas.openxmlformats.org/officeDocument/2006/relationships" id="2147483650" r:id="Rfa59c40f56644835"/>
    <p:sldLayoutId xmlns:r="http://schemas.openxmlformats.org/officeDocument/2006/relationships" id="2147483651" r:id="Rf67961f5b647428c"/>
    <p:sldLayoutId xmlns:r="http://schemas.openxmlformats.org/officeDocument/2006/relationships" id="2147483652" r:id="R4e8f4f6bce9b488b"/>
    <p:sldLayoutId xmlns:r="http://schemas.openxmlformats.org/officeDocument/2006/relationships" id="2147483653" r:id="R7d223b2fc37a4e78"/>
    <p:sldLayoutId xmlns:r="http://schemas.openxmlformats.org/officeDocument/2006/relationships" id="2147483654" r:id="Rb351a4e14bef4be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aperlogy"/>
        <a:ea typeface=""/>
        <a:cs typeface=""/>
      </a:majorFont>
      <a:minorFont>
        <a:latin typeface="Paperlogy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ns0:Relationships xmlns:ns0="http://schemas.openxmlformats.org/package/2006/relationships"><ns0:Relationship Type="http://schemas.openxmlformats.org/officeDocument/2006/relationships/slideLayout" Target="/ppt/slideLayouts/slideLayout6.xml" Id="R8edb515632df46cf" /><ns0:Relationship Type="http://schemas.openxmlformats.org/officeDocument/2006/relationships/image" Target="/ppt/media/image.png" Id="R1a26ecca233648af" /><ns0:Relationship Type="http://schemas.openxmlformats.org/officeDocument/2006/relationships/image" Target="/ppt/media/image2.png" Id="Rd85f163226c44980" /><ns0:Relationship Type="http://schemas.openxmlformats.org/officeDocument/2006/relationships/notesSlide" Target="/ppt/notesSlides/notesSlide1.xml" Id="Rd3c9ea08093b4f1a" /><ns0:Relationship Id="rIdServiceLink" Type="http://schemas.openxmlformats.org/officeDocument/2006/relationships/hyperlink" Target="https://schemes-subscriber-participating-gale.trycloudflare.com/" TargetMode="External" /></ns0: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def063000d745c0" /><Relationship Type="http://schemas.openxmlformats.org/officeDocument/2006/relationships/image" Target="/ppt/media/image3.png" Id="Rd82440f7b9774ddf" /><Relationship Type="http://schemas.openxmlformats.org/officeDocument/2006/relationships/notesSlide" Target="/ppt/notesSlides/notesSlide2.xml" Id="R5db71dfb0103445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276a3b3f9654ede" /><Relationship Type="http://schemas.openxmlformats.org/officeDocument/2006/relationships/image" Target="/ppt/media/image4.png" Id="R23790f10e3dc4e20" /><Relationship Type="http://schemas.openxmlformats.org/officeDocument/2006/relationships/notesSlide" Target="/ppt/notesSlides/notesSlide3.xml" Id="Rcdcff391357e4c6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bd8eaa97b2249e4" /><Relationship Type="http://schemas.openxmlformats.org/officeDocument/2006/relationships/image" Target="/ppt/media/image5.png" Id="R0ecc54f3b64f4c55" /><Relationship Type="http://schemas.openxmlformats.org/officeDocument/2006/relationships/notesSlide" Target="/ppt/notesSlides/notesSlide4.xml" Id="R2a197e1ef4524f0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9b8b78c3304468f" /><Relationship Type="http://schemas.openxmlformats.org/officeDocument/2006/relationships/image" Target="/ppt/media/image6.png" Id="R731b6dffafa649aa" /><Relationship Type="http://schemas.openxmlformats.org/officeDocument/2006/relationships/notesSlide" Target="/ppt/notesSlides/notesSlide5.xml" Id="R20013954d329415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735d5d259824a7d" /><Relationship Type="http://schemas.openxmlformats.org/officeDocument/2006/relationships/image" Target="/ppt/media/image7.png" Id="R3cf8dfe2ec994814" /><Relationship Type="http://schemas.openxmlformats.org/officeDocument/2006/relationships/notesSlide" Target="/ppt/notesSlides/notesSlide6.xml" Id="R004131f5b7b648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71b68303b024aea" /><Relationship Type="http://schemas.openxmlformats.org/officeDocument/2006/relationships/image" Target="/ppt/media/image8.png" Id="R245852f05b6b4782" /><Relationship Type="http://schemas.openxmlformats.org/officeDocument/2006/relationships/image" Target="/ppt/media/image.jpeg" Id="Rd38796a52dd74438" /><Relationship Type="http://schemas.openxmlformats.org/officeDocument/2006/relationships/image" Target="/ppt/media/image2.jpeg" Id="R6ca5e0f46a07412e" /><Relationship Type="http://schemas.openxmlformats.org/officeDocument/2006/relationships/notesSlide" Target="/ppt/notesSlides/notesSlide7.xml" Id="R91663068e15d449f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52465d352694f61" /><Relationship Type="http://schemas.openxmlformats.org/officeDocument/2006/relationships/image" Target="/ppt/media/image9.png" Id="R17b0e9e26dc141f2" /><Relationship Type="http://schemas.openxmlformats.org/officeDocument/2006/relationships/image" Target="/ppt/media/image3.jpeg" Id="Rfc3d759841c3414e" /><Relationship Type="http://schemas.openxmlformats.org/officeDocument/2006/relationships/image" Target="/ppt/media/image4.jpeg" Id="R6a9306b8a4c64588" /><Relationship Type="http://schemas.openxmlformats.org/officeDocument/2006/relationships/notesSlide" Target="/ppt/notesSlides/notesSlide8.xml" Id="R4f3cf4b5de32474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7ae095371d14a7f" /><Relationship Type="http://schemas.openxmlformats.org/officeDocument/2006/relationships/image" Target="/ppt/media/image10.png" Id="Raa6295e3d79b4470" /><Relationship Type="http://schemas.openxmlformats.org/officeDocument/2006/relationships/image" Target="/ppt/media/image5.jpeg" Id="R5ad39aaf8d074d4e" /><Relationship Type="http://schemas.openxmlformats.org/officeDocument/2006/relationships/image" Target="/ppt/media/image6.jpeg" Id="Rbb86697784a5409a" /><Relationship Type="http://schemas.openxmlformats.org/officeDocument/2006/relationships/notesSlide" Target="/ppt/notesSlides/notesSlide9.xml" Id="Rcf364d4f5c8545ab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32960b489df4ccf" /><Relationship Type="http://schemas.openxmlformats.org/officeDocument/2006/relationships/image" Target="/ppt/media/image11.png" Id="Rd29583893d52473c" /><Relationship Type="http://schemas.openxmlformats.org/officeDocument/2006/relationships/notesSlide" Target="/ppt/notesSlides/notesSlide10.xml" Id="Re6aef11f165b4fa3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f01768c6e28492a" /><Relationship Type="http://schemas.openxmlformats.org/officeDocument/2006/relationships/image" Target="/ppt/media/image12.png" Id="Rc52277bea38b4fbb" /><Relationship Type="http://schemas.openxmlformats.org/officeDocument/2006/relationships/notesSlide" Target="/ppt/notesSlides/notesSlide11.xml" Id="Rf72ead551f534ef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486536bd4d44c2d" /><Relationship Type="http://schemas.openxmlformats.org/officeDocument/2006/relationships/image" Target="/ppt/media/image13.png" Id="R33fc9adcf20341ca" /><Relationship Type="http://schemas.openxmlformats.org/officeDocument/2006/relationships/notesSlide" Target="/ppt/notesSlides/notesSlide12.xml" Id="Rf295c3ca131a477c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5dd406ecf624dd2" /><Relationship Type="http://schemas.openxmlformats.org/officeDocument/2006/relationships/image" Target="/ppt/media/image14.png" Id="Rbbce7dd7b2ee4079" /><Relationship Type="http://schemas.openxmlformats.org/officeDocument/2006/relationships/notesSlide" Target="/ppt/notesSlides/notesSlide13.xml" Id="R11eff0726ff34d9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a33f48ba3d9400a" /><Relationship Type="http://schemas.openxmlformats.org/officeDocument/2006/relationships/image" Target="/ppt/media/image15.png" Id="Rde74819fd5b44f96" /><Relationship Type="http://schemas.openxmlformats.org/officeDocument/2006/relationships/notesSlide" Target="/ppt/notesSlides/notesSlide14.xml" Id="R1d94f82f5eb44207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fab04d0c97e4a87" /><Relationship Type="http://schemas.openxmlformats.org/officeDocument/2006/relationships/image" Target="/ppt/media/image16.png" Id="R62a733c2de2d4c4b" /><Relationship Type="http://schemas.openxmlformats.org/officeDocument/2006/relationships/notesSlide" Target="/ppt/notesSlides/notesSlide15.xml" Id="R4dee935fb51e444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6652d8e1004ba3" /><Relationship Type="http://schemas.openxmlformats.org/officeDocument/2006/relationships/image" Target="/ppt/media/image17.png" Id="Rfdef4668fc164c84" /><Relationship Type="http://schemas.openxmlformats.org/officeDocument/2006/relationships/notesSlide" Target="/ppt/notesSlides/notesSlide16.xml" Id="R749df7d2334a4436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719bbc624894b7a" /><Relationship Type="http://schemas.openxmlformats.org/officeDocument/2006/relationships/image" Target="/ppt/media/image18.png" Id="R2a5224c85292460c" /><Relationship Type="http://schemas.openxmlformats.org/officeDocument/2006/relationships/notesSlide" Target="/ppt/notesSlides/notesSlide17.xml" Id="R5d3b8c6bc2d24c2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49c9437ba44988" /><Relationship Type="http://schemas.openxmlformats.org/officeDocument/2006/relationships/image" Target="/ppt/media/image19.png" Id="R3811b85c7c8c4fab" /><Relationship Type="http://schemas.openxmlformats.org/officeDocument/2006/relationships/notesSlide" Target="/ppt/notesSlides/notesSlide18.xml" Id="R73deee00b51e465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f04ea80379c44b0" /><Relationship Type="http://schemas.openxmlformats.org/officeDocument/2006/relationships/image" Target="/ppt/media/image20.png" Id="Rc8fe051d4cac4f15" /><Relationship Type="http://schemas.openxmlformats.org/officeDocument/2006/relationships/notesSlide" Target="/ppt/notesSlides/notesSlide19.xml" Id="Rb13246c3829243e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b8f1954faa94fcf" /><Relationship Type="http://schemas.openxmlformats.org/officeDocument/2006/relationships/image" Target="/ppt/media/image21.png" Id="Rfb4a291686974122" /><Relationship Type="http://schemas.openxmlformats.org/officeDocument/2006/relationships/notesSlide" Target="/ppt/notesSlides/notesSlide20.xml" Id="Rd2b47dc603a74ea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84e1ed41e247ec" /><Relationship Type="http://schemas.openxmlformats.org/officeDocument/2006/relationships/image" Target="/ppt/media/image22.png" Id="R8275f37b917b4068" /><Relationship Type="http://schemas.openxmlformats.org/officeDocument/2006/relationships/notesSlide" Target="/ppt/notesSlides/notesSlide21.xml" Id="R2a52a6a6e2ea4c32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7e9e45c2684863" /><Relationship Type="http://schemas.openxmlformats.org/officeDocument/2006/relationships/image" Target="/ppt/media/image23.png" Id="Rdf0c73245d304437" /><Relationship Type="http://schemas.openxmlformats.org/officeDocument/2006/relationships/notesSlide" Target="/ppt/notesSlides/notesSlide22.xml" Id="R1a69f10987c748b6" /></Relationships>
</file>

<file path=ppt/slides/slide1.xml><?xml version="1.0" encoding="utf-8"?>
<ns0:sld xmlns:ns0="http://schemas.openxmlformats.org/presentationml/2006/main" xmlns:ns1="http://schemas.openxmlformats.org/drawingml/2006/main" xmlns:ns2="http://schemas.microsoft.com/office/drawing/2014/main" xmlns:ns3="http://schemas.openxmlformats.org/officeDocument/2006/relationships" xmlns:ns4="http://schemas.microsoft.com/office/powerpoint/2010/main">
  <ns0:cSld>
    <ns0:bg>
      <ns0:bgPr>
        <ns1:solidFill>
          <ns1:srgbClr val="F5F5F5"/>
        </ns1:solidFill>
      </ns0:bgPr>
    </ns0:bg>
    <ns0:spTree>
      <ns0:nvGrpSpPr>
        <ns0:cNvPr id="1" name=""/>
        <ns0:cNvGrpSpPr/>
        <ns0:nvPr/>
      </ns0:nvGrpSpPr>
      <ns0:grpSpPr>
        <ns1:xfrm/>
      </ns0:grpSpPr>
      <ns0:pic>
        <ns0:nvPicPr>
          <ns0:cNvPr id="12" name="">
            <ns1:extLst>
              <ns1:ext uri="{FF2B5EF4-FFF2-40B4-BE49-F238E27FC236}">
                <ns2:creationId id="{324818F6-3B69-4FD4-B83A-E671317DDCEA}"/>
              </ns1:ext>
            </ns1:extLst>
          </ns0:cNvPr>
          <ns0:cNvPicPr>
            <ns1:picLocks noChangeAspect="1"/>
          </ns0:cNvPicPr>
          <ns0:nvPr/>
        </ns0:nvPicPr>
        <ns0:blipFill>
          <ns1:blip ns3:embed="R1a26ecca233648af"/>
          <ns1:stretch/>
        </ns0:blipFill>
        <ns0:spPr>
          <ns1:xfrm>
            <ns1:off x="457200" y="234950"/>
            <ns1:ext cx="1104900" cy="368300"/>
          </ns1:xfrm>
          <ns1:prstGeom prst="rect">
            <ns1:avLst/>
          </ns1:prstGeom>
        </ns0:spPr>
      </ns0:pic>
      <ns0:sp>
        <ns0:nvSpPr>
          <ns0:cNvPr id="2" name="">
            <ns1:extLst>
              <ns1:ext uri="{FF2B5EF4-FFF2-40B4-BE49-F238E27FC236}">
                <ns2:creationId id="{387571EF-83B8-4891-9358-3AF52E55447B}"/>
              </ns1:ext>
            </ns1:extLst>
          </ns0:cNvPr>
          <ns0:cNvSpPr>
            <ns1:spLocks noGrp="1"/>
          </ns0:cNvSpPr>
          <ns0:nvPr/>
        </ns0:nvSpPr>
        <ns0:spPr>
          <ns1:xfrm>
            <ns1:off x="9144000" y="304800"/>
            <ns1:ext cx="257175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pPr>
            <ns1:r>
              <ns1:rPr sz="975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rPr>
              <ns1:t>프로젝트 결과</ns1:t>
            </ns1:r>
          </ns1:p>
        </ns0:txBody>
      </ns0:sp>
      <ns0:sp>
        <ns0:nvSpPr>
          <ns0:cNvPr id="3" name="">
            <ns1:extLst>
              <ns1:ext uri="{FF2B5EF4-FFF2-40B4-BE49-F238E27FC236}">
                <ns2:creationId id="{222FCF70-A8AC-4294-B3A7-781F14AA0E6C}"/>
              </ns1:ext>
            </ns1:extLst>
          </ns0:cNvPr>
          <ns0:cNvSpPr>
            <ns1:spLocks noGrp="1"/>
          </ns0:cNvSpPr>
          <ns0:nvPr/>
        </ns0:nvSpPr>
        <ns0:spPr>
          <ns1:xfrm>
            <ns1:off x="523875" y="866775"/>
            <ns1:ext cx="11144250" cy="523875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pPr>
            <ns1:r>
              <ns1:rPr sz="25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rPr>
              <ns1:t>마음에 든 집, 놓친 건 없을까?</ns1:t>
            </ns1:r>
          </ns1:p>
        </ns0:txBody>
      </ns0:sp>
      <ns0:sp>
        <ns0:nvSpPr>
          <ns0:cNvPr id="4" name="">
            <ns1:extLst>
              <ns1:ext uri="{FF2B5EF4-FFF2-40B4-BE49-F238E27FC236}">
                <ns2:creationId id="{B1C1D01F-A538-4F62-8390-A05CEBCF3635}"/>
              </ns1:ext>
            </ns1:extLst>
          </ns0:cNvPr>
          <ns0:cNvSpPr>
            <ns1:spLocks noGrp="1"/>
          </ns0:cNvSpPr>
          <ns0:nvPr/>
        </ns0:nvSpPr>
        <ns0:spPr>
          <ns1:xfrm>
            <ns1:off x="523875" y="1457325"/>
            <ns1:ext cx="11144250" cy="28575"/>
          </ns1:xfrm>
          <ns1:prstGeom prst="rect">
            <ns1:avLst/>
          </ns1:prstGeom>
          <ns1:solidFill>
            <ns1:srgbClr val="326CF9"/>
          </ns1:solidFill>
          <ns1:ln w="0">
            <ns1:noFill/>
          </ns1:ln>
        </ns0:spPr>
      </ns0:sp>
      <ns0:sp>
        <ns0:nvSpPr>
          <ns0:cNvPr id="5" name="">
            <ns1:extLst>
              <ns1:ext uri="{FF2B5EF4-FFF2-40B4-BE49-F238E27FC236}">
                <ns2:creationId id="{5BFAAC52-5598-4E35-874F-2B5AE5E6B1BD}"/>
              </ns1:ext>
            </ns1:extLst>
          </ns0:cNvPr>
          <ns0:cNvSpPr>
            <ns1:spLocks noGrp="1"/>
          </ns0:cNvSpPr>
          <ns0:nvPr/>
        </ns0:nvSpPr>
        <ns0:spPr>
          <ns1:xfrm>
            <ns1:off x="523875" y="6419850"/>
            <ns1:ext cx="10287000" cy="209550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pPr>
            <ns1:r>
              <ns1:rPr sz="90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rPr>
              <ns1:t>2026.10.23 | 실제 코드·집 API 검증 / 공개 프론트 최종 게시와 구분</ns1:t>
            </ns1:r>
          </ns1:p>
        </ns0:txBody>
      </ns0:sp>
      <ns0:sp>
        <ns0:nvSpPr>
          <ns0:cNvPr id="6" name="">
            <ns1:extLst>
              <ns1:ext uri="{FF2B5EF4-FFF2-40B4-BE49-F238E27FC236}">
                <ns2:creationId id="{7D89756C-B4CC-4CAD-9FEF-5DF057DCAF54}"/>
              </ns1:ext>
            </ns1:extLst>
          </ns0:cNvPr>
          <ns0:cNvSpPr>
            <ns1:spLocks noGrp="1"/>
          </ns0:cNvSpPr>
          <ns0:nvPr/>
        </ns0:nvSpPr>
        <ns0:spPr>
          <ns1:xfrm>
            <ns1:off x="11144250" y="6419850"/>
            <ns1:ext cx="571500" cy="219075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pPr>
            <ns1:r>
              <ns1:rPr sz="1050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rPr>
              <ns1:t>01</ns1:t>
            </ns1:r>
          </ns1:p>
        </ns0:txBody>
      </ns0:sp>
      <ns0:pic>
        <ns0:nvPicPr>
          <ns0:cNvPr id="7" name="">
            <ns1:extLst>
              <ns1:ext uri="{FF2B5EF4-FFF2-40B4-BE49-F238E27FC236}">
                <ns2:creationId id="{E9D7137E-2118-4FD4-A695-730ACFCC4428}"/>
              </ns1:ext>
            </ns1:extLst>
          </ns0:cNvPr>
          <ns0:cNvPicPr>
            <ns1:picLocks noChangeAspect="1"/>
          </ns0:cNvPicPr>
          <ns0:nvPr/>
        </ns0:nvPicPr>
        <ns0:blipFill>
          <ns1:blip ns3:embed="Rd85f163226c44980"/>
          <ns1:stretch/>
        </ns0:blipFill>
        <ns0:spPr>
          <ns1:xfrm>
            <ns1:off x="714375" y="1957388"/>
            <ns1:ext cx="4429125" cy="1476375"/>
          </ns1:xfrm>
          <ns1:prstGeom prst="rect">
            <ns1:avLst/>
          </ns1:prstGeom>
        </ns0:spPr>
      </ns0:pic>
      <ns0:sp>
        <ns0:nvSpPr>
          <ns0:cNvPr id="8" name="">
            <ns1:extLst>
              <ns1:ext uri="{FF2B5EF4-FFF2-40B4-BE49-F238E27FC236}">
                <ns2:creationId id="{0CBAB652-5D77-4111-874B-80B5DDA945C1}"/>
              </ns1:ext>
            </ns1:extLst>
          </ns0:cNvPr>
          <ns0:cNvSpPr>
            <ns1:spLocks noGrp="1"/>
          </ns0:cNvSpPr>
          <ns0:nvPr/>
        </ns0:nvSpPr>
        <ns0:spPr>
          <ns1:xfrm>
            <ns1:off x="714375" y="3790950"/>
            <ns1:ext cx="10763250" cy="533400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defRPr>
            </ns1:pPr>
            <ns1:r>
              <ns1:rPr sz="2850" b="1">
                <ns1:solidFill>
                  <ns1:srgbClr val="222222"/>
                </ns1:solidFill>
                <ns1:latin typeface="Paperlogy"/>
                <ns1:ea typeface="Paperlogy"/>
                <ns1:cs typeface="Paperlogy"/>
              </ns1:rPr>
              <ns1:t>최종 프로젝트 자료</ns1:t>
            </ns1:r>
          </ns1:p>
        </ns0:txBody>
      </ns0:sp>
      <ns0:sp>
        <ns0:nvSpPr>
          <ns0:cNvPr id="9" name="">
            <ns1:extLst>
              <ns1:ext uri="{FF2B5EF4-FFF2-40B4-BE49-F238E27FC236}">
                <ns2:creationId id="{3E0754D1-8661-4FA6-B6D7-25DD324C3072}"/>
              </ns1:ext>
            </ns1:extLst>
          </ns0:cNvPr>
          <ns0:cNvSpPr>
            <ns1:spLocks noGrp="1"/>
          </ns0:cNvSpPr>
          <ns0:nvPr/>
        </ns0:nvSpPr>
        <ns0:spPr>
          <ns1:xfrm>
            <ns1:off x="714375" y="4514850"/>
            <ns1:ext cx="10763250" cy="495300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pPr>
            <ns1:r>
              <ns1:rPr sz="2100" b="0">
                <ns1:solidFill>
                  <ns1:srgbClr val="326CF9"/>
                </ns1:solidFill>
                <ns1:latin typeface="Paperlogy"/>
                <ns1:ea typeface="Paperlogy"/>
                <ns1:cs typeface="Paperlogy"/>
              </ns1:rPr>
              <ns1:t>명세서 · 화면설계 · ERD · 기능 설명</ns1:t>
            </ns1:r>
          </ns1:p>
        </ns0:txBody>
      </ns0:sp>
      <ns0:sp>
        <ns0:nvSpPr>
          <ns0:cNvPr id="10" name="">
            <ns1:extLst>
              <ns1:ext uri="{FF2B5EF4-FFF2-40B4-BE49-F238E27FC236}">
                <ns2:creationId id="{12D34901-F1E3-4F47-AD3C-BDE84D7631F5}"/>
              </ns1:ext>
            </ns1:extLst>
            <ns1:hlinkClick ns3:id="rIdServiceLink"/>
          </ns0:cNvPr>
          <ns0:cNvSpPr>
            <ns1:spLocks noGrp="1"/>
          </ns0:cNvSpPr>
          <ns0:nvPr/>
        </ns0:nvSpPr>
        <ns0:spPr>
          <ns1:xfrm>
            <ns1:off x="714375" y="5305425"/>
            <ns1:ext cx="10763250" cy="361950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defRPr>
            </ns1:pPr>
            <ns1:r>
              <ns1:rPr sz="1875" b="1">
                <ns1:solidFill>
                  <ns1:srgbClr val="326CF9"/>
                </ns1:solidFill>
                <ns1:latin typeface="Paperlogy"/>
                <ns1:ea typeface="Paperlogy"/>
                <ns1:cs typeface="Paperlogy"/>
              </ns1:rPr>
              <ns1:t>서비스 바로가기 → 월세구멍</ns1:t>
            </ns1:r>
          </ns1:p>
        </ns0:txBody>
      </ns0:sp>
      <ns0:sp>
        <ns0:nvSpPr>
          <ns0:cNvPr id="11" name="">
            <ns1:extLst>
              <ns1:ext uri="{FF2B5EF4-FFF2-40B4-BE49-F238E27FC236}">
                <ns2:creationId id="{3CEF6926-9CC3-4986-9E3D-BB6646763169}"/>
              </ns1:ext>
            </ns1:extLst>
          </ns0:cNvPr>
          <ns0:cNvSpPr>
            <ns1:spLocks noGrp="1"/>
          </ns0:cNvSpPr>
          <ns0:nvPr/>
        </ns0:nvSpPr>
        <ns0:spPr>
          <ns1:xfrm>
            <ns1:off x="714375" y="5772150"/>
            <ns1:ext cx="10763250" cy="285750"/>
          </ns1:xfrm>
          <ns1:prstGeom prst="rect">
            <ns1:avLst/>
          </ns1:prstGeom>
          <ns1:noFill/>
          <ns1:ln w="0">
            <ns1:noFill/>
          </ns1:ln>
        </ns0:spPr>
        <ns0:txBody>
          <ns1:bodyPr anchor="t"/>
          <ns1:lstStyle>
            <ns1:def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defPPr>
            <ns1:lvl1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1pPr>
            <ns1:lvl2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2pPr>
            <ns1:lvl3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3pPr>
            <ns1:lvl4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4pPr>
            <ns1:lvl5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5pPr>
            <ns1:lvl6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6pPr>
            <ns1:lvl7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7pPr>
            <ns1:lvl8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8pPr>
            <ns1:lvl9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lvl9pPr>
          </ns1:lstStyle>
          <ns1:p>
            <ns1:pPr>
              <ns1:def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defRPr>
            </ns1:pPr>
            <ns1:r>
              <ns1:rPr sz="1350" b="0">
                <ns1:solidFill>
                  <ns1:srgbClr val="656565"/>
                </ns1:solidFill>
                <ns1:latin typeface="Paperlogy"/>
                <ns1:ea typeface="Paperlogy"/>
                <ns1:cs typeface="Paperlogy"/>
              </ns1:rPr>
              <ns1:t>링크를 열면 자동 연결됩니다. 접속키 입력 없이 체험할 수 있습니다.</ns1:t>
            </ns1:r>
          </ns1:p>
        </ns0:txBody>
      </ns0:sp>
    </ns0:spTree>
    <ns0:extLst>
      <ns0:ext uri="{BB962C8B-B14F-4D97-AF65-F5344CB8AC3E}">
        <ns4:creationId val="688222882"/>
      </ns0:ext>
    </ns0:extLst>
  </ns0:cSld>
</ns0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9960CF-F9B1-4E4D-9A34-D2259AF9F54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2440f7b9774ddf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40BF8A-3543-4329-9C9E-9524B2CD4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01 프로젝트 개요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51FC205-6162-4A06-A71A-FF396F25C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월세와 관리비를 구분해 판단을 돕습니다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E5EE9E-E876-4861-9080-C0692CA29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39B87C-BE9E-4BAF-B374-63622BCCE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32349A-4663-4F6E-9798-93E7C4161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CBA04B-C34B-4BB9-91A6-63C66706B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B0007B-24B7-4C82-B4F6-63883BED6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사용자에게 필요한 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6E9651-EE7D-41E4-AE49-982C397AD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입력한 월세가 유사 실거래와 얼마나 다른지 금액·퍼센트·비교 근거로 확인합니다.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B000E4-837D-477F-9B39-AAF6786E0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C9FCB-A1CB-48D6-9275-BA8AA9AB6E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관리비는 별도로 확인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ADD6F6E-BA7A-4417-807D-5BEAD1FC4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포함 항목과 총액을 입력합니다. 분석가 자료가 있는 항목만 참고비용을 보여줍니다.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8229279-F398-41C8-9582-CAA6C98C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B2BEF6-F51D-4D9F-A750-8EFC6719E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확인할 수 있는 것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E136649-266C-428B-AC14-0565DEED0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조건이 비슷한 거래의 기준 가격 범위, 표본 수, 신뢰도·보류 사유, 자료 없는 항목.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9C41628-2267-4E24-A3E4-CE974DE3B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18B735-6EB1-42BB-9DC0-BA710BEAA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확인할 수 없는 것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19F5577-9B20-4251-BE22-30649A22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가격 차이만으로 사기·불법을 판정하지 않습니다. 개별 주소의 실제 고지서를 안다고 표시하지 않습니다.</a:t>
            </a:r>
          </a:p>
        </p:txBody>
      </p:sp>
    </p:spTree>
    <p:extLst>
      <p:ext uri="{BB962C8B-B14F-4D97-AF65-F5344CB8AC3E}">
        <p14:creationId xmlns:p14="http://schemas.microsoft.com/office/powerpoint/2010/main" val="81842986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BA25C5-1957-4DE1-BEA6-E3F7CDC0874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3790f10e3dc4e20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075948-A6AE-4B88-8095-96ABE173C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01 프로젝트 개요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DC612B-F193-4048-9C89-FC66B8E41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지원 범위는 로드된 자료를 따릅니다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EAB6D3-CCB7-4DE1-9014-305FACFAA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BD98402-A503-4F96-88F6-13E1F10E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B1E4FC-9AA8-4FDB-A86E-8E703B9A3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03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342D7A-FEEA-47C9-A9D8-6B5A22FD52C7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4381500"/>
                <a:gridCol w="5143500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구분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현재 범위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주의할 점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지역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서울의 로드된 구·주택 유형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전국 지원으로 표시하지 않음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월세 비교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같은 동 → 조건 완화 → 같은 구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같은 건물 우선 비교는 비활성화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주택 유형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아파트·연립다세대·오피스텔·단독다가구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유형별 면적·지번 제약은 분석 계약 적용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이미지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다방·직방 목록 판독과 부분 필드 연결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모든 사진·앱의 정확도 보장 아님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관리비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전기·수도·가스·인터넷·기타 5항목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원본·조건 없는 값은 null 유지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84947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333F58-16E3-4778-8ECE-4EAAC2FFE1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cc54f3b64f4c55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FE8DE65-29B3-4357-9AF1-12638E971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02 명세서·화면설계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1BB4169-7046-47FA-903C-AB49F26EA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기능 명세 ① 입력과 사용자 확인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533DD0-B9A8-4916-BC76-D7B77291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97E430-B69E-4B5D-B77C-DB55F5C2B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FE7FC5-455E-4AA9-A923-08BB52CE5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04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5B1BCD-4BDD-4EC5-B9FD-0AEB4618F9DF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4714875"/>
                <a:gridCol w="4714875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기능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동작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완료 기준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직접 입력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주소·지역·유형·면적·보증금·월세 입력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금액 만원 / 면적 ㎡, 값 검증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캡처 입력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읽은 항목만 확인용 초안으로 전달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미기재 null, 불일치 값 자동 입력 금지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주소 후보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후보를 확인하고 법정동 코드와 연결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이미지 주소는 검색 확인 전 후보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관리비 입력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5개 체크박스 + 총액 한 칸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체크 INCLUDED / 미체크 UNKNOWN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최종 확인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사용자가 수정 후 확인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확인 전 분석 차단, 자동 확인 없음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390038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3FB0661-460B-4A44-AC6A-0C02BC65275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31b6dffafa649aa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021BA9-DADB-4C95-9330-5BCC7897DB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02 명세서·화면설계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E6383D-BA50-4499-8852-AA0F6F624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기능 명세 ② 분석 결과와 예외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BFF8FB0-2101-49EC-9F19-9248A5411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587B8B-C116-447C-A792-507EDEC8F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C28948-521B-45EF-9C00-C9D1162C6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05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186E54-586C-470D-B31A-7A1AEA1BBCC8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714500"/>
                <a:gridCol w="4714875"/>
                <a:gridCol w="4714875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기능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백엔드 응답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처리 기준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월세 결과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가격 범위·차액·차이율·표본·근거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기존 분석 값 보존, 참고용은 판정 억제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관리비 결과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선택/미선택 두 그룹, 범위와 가운데 값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가운데 값=(최소+최대)÷2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자료 부족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null·부족 사유·불완전 그룹 상태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없는 값을 0원으로 바꾸지 않음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저장·조회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매물·추출·분석·참고값 저장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소유 세션만 접근·삭제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오류·재시도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인증/입력/환경 오류 구분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중복 등록 방지, 기존 사용자 자료 보존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37530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56E8D8C-A1A1-4898-A26D-8EB82D2CBA6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f8dfe2ec994814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D4CD3AD-13D9-43E5-9F40-6FE9650D5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02 명세서·화면설계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3B2A2-CB2A-4BA0-A5C4-DA063DC55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고객 화면에서 결과까지 이어지는 순서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BB192A-613E-4179-A1E1-7B93CEB64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EAED54-005E-4CC9-812E-E3BC956E3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59EA51C-3529-4534-B590-23C9105AD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02F3CAC-7E97-4F1A-9902-8EEF8122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FA2DA4-AC4A-4448-BBA1-EEC0E1748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E4090-43B1-4E94-AEE9-D1BDABDC2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방식 선택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C1A3CAE-87BB-4CFC-BF69-B062BC497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직접 입력 또는 캡처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CBD86F-E76A-42C7-BC46-B9F4386F9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08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407F343-C7D9-4C4B-BD5E-1A3AF808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63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ED94CA-9730-4936-98B4-777321937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E1A952-2F10-49E3-B53D-51CF89E0A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정보 확인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749FA9-9C86-4962-8633-B01A11CB6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읽은 값 확인·누락 보완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12E10E-618B-4AC2-B486-257AD914F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584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B9A66D-DD79-4974-BE14-41FE13FF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39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02059B8-E13D-4EE0-BC77-9213D33B9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A813A7-A9C6-4FC9-BFC5-D4A2DB2A6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상세 입력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73CED4-5954-47A3-BC63-DFCA5671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지역·면적 기준·5항목·총액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A91323-B8FC-46CB-9E4D-F7EA21C6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660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4322AC-7B2A-485A-9FF8-BE26E8F00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15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7333933-6EA3-4C18-8FD8-454DDB26F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D6815EB-A879-4C98-A3FF-B01AE73A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사용자 확인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C2100E8-5046-413A-9A06-58D0368ED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등록 후 분석 요청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830C1E-212A-4CB2-8CD3-9405A20E3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736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36A353E-146F-42D1-B924-19A56C5F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1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ECDE0B2-0F21-4EED-9F4D-717DEDD6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C1AB65A-88FC-4D8F-8D84-88E668C1B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결과 확인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6B991BF-724F-4F6B-BDFE-884B61E2B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월세 차이와 관리비 참고값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9735646-A4E3-4DD8-860A-48E384D35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435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확인되지 않은 값은 채우지 않으며, 사용자 확인 후에만 등록·분석합니다.</a:t>
            </a:r>
          </a:p>
        </p:txBody>
      </p:sp>
    </p:spTree>
    <p:extLst>
      <p:ext uri="{BB962C8B-B14F-4D97-AF65-F5344CB8AC3E}">
        <p14:creationId xmlns:p14="http://schemas.microsoft.com/office/powerpoint/2010/main" val="61099526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E14CBBF-557E-48BE-A15B-8D4D70AFAD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5852f05b6b4782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F08A71-8FBA-4ED0-8FB2-D0A821BE8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02 명세서·화면설계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9249CF-6936-4882-A64F-093CAEB9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화면 ① 시작·주소 선택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FFC1CF-1710-4334-9DF0-BAACCC099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4936E0-B003-4EDF-B6B1-93160D14E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9398C15-AA74-4ECD-8DD3-14FB154D6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B8B064-B251-4D94-A280-482EB06E0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24025"/>
            <a:ext cx="5467350" cy="4438650"/>
          </a:xfrm>
          <a:prstGeom xmlns:a="http://schemas.openxmlformats.org/drawingml/2006/main" prst="roundRect">
            <a:avLst>
              <a:gd name="adj" fmla="val 30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EB71AD-DDEA-4AEE-81F0-4C30B228B1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796a52dd74438"/>
          <a:srcRect xmlns:a="http://schemas.openxmlformats.org/drawingml/2006/main" l="34200" t="0" r="35300" b="0"/>
          <a:stretch xmlns:a="http://schemas.openxmlformats.org/drawingml/2006/main"/>
        </p:blipFill>
        <p:spPr>
          <a:xfrm xmlns:a="http://schemas.openxmlformats.org/drawingml/2006/main">
            <a:off x="619125" y="1819275"/>
            <a:ext cx="2362200" cy="4191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75BA320-B902-4C67-9003-4511333DA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716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966072-DD59-40F1-83C6-38A50A0E1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47950"/>
            <a:ext cx="2476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실제 월세구멍 게시 페이지의 시작 화면입니다. 4단계 진행, 캡처/주소 탭과 직접 입력 경로를 확인했습니다.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24683-9DFB-440A-A16A-49499A38F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24025"/>
            <a:ext cx="5467350" cy="4438650"/>
          </a:xfrm>
          <a:prstGeom xmlns:a="http://schemas.openxmlformats.org/drawingml/2006/main" prst="roundRect">
            <a:avLst>
              <a:gd name="adj" fmla="val 30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BAC22-44FB-4458-A590-ECF2A36806A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a5e0f46a07412e"/>
          <a:srcRect xmlns:a="http://schemas.openxmlformats.org/drawingml/2006/main" l="34200" t="0" r="35300" b="0"/>
          <a:stretch xmlns:a="http://schemas.openxmlformats.org/drawingml/2006/main"/>
        </p:blipFill>
        <p:spPr>
          <a:xfrm xmlns:a="http://schemas.openxmlformats.org/drawingml/2006/main">
            <a:off x="6296025" y="1819275"/>
            <a:ext cx="2362200" cy="4191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17E9A88-5070-49F0-BC7E-02BFACCFA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716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61A1E-E475-4897-8AEC-2F02076C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2476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실제 페이지의 주소 입력 화면입니다. 이 화면 캡처에서는 주소 검색을 실행하지 않았습니다.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1FF596-65E5-479F-BF5E-D95E37E72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2007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출처: 실제 월세구멍 공개 페이지 / 2026-10-23 캡처 / 입력 화면</a:t>
            </a:r>
          </a:p>
        </p:txBody>
      </p:sp>
    </p:spTree>
    <p:extLst>
      <p:ext uri="{BB962C8B-B14F-4D97-AF65-F5344CB8AC3E}">
        <p14:creationId xmlns:p14="http://schemas.microsoft.com/office/powerpoint/2010/main" val="141834827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BD52DA-0959-400E-8346-0464B251053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b0e9e26dc141f2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EBCC3F-1B05-45ED-BE19-9CD1259F3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02 명세서·화면설계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F8AA00-0672-46BF-8EC2-79BDFF11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실제 화면 ② 상세 입력·관리비 체크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6EAC2F-BEEE-4EF8-84E5-47323FB8D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3E58AC-5161-40D0-B46A-C5DDACDEF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35C8E5-912E-4EDD-BB1F-8C9EA427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8EDC12-B406-4802-B45D-FFFDCDD6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24025"/>
            <a:ext cx="5467350" cy="4438650"/>
          </a:xfrm>
          <a:prstGeom xmlns:a="http://schemas.openxmlformats.org/drawingml/2006/main" prst="roundRect">
            <a:avLst>
              <a:gd name="adj" fmla="val 30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EBBC80-5248-4797-988C-C0887CFA34E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c3d759841c3414e"/>
          <a:srcRect xmlns:a="http://schemas.openxmlformats.org/drawingml/2006/main" l="34200" t="0" r="35300" b="0"/>
          <a:stretch xmlns:a="http://schemas.openxmlformats.org/drawingml/2006/main"/>
        </p:blipFill>
        <p:spPr>
          <a:xfrm xmlns:a="http://schemas.openxmlformats.org/drawingml/2006/main">
            <a:off x="619125" y="1819275"/>
            <a:ext cx="2362200" cy="4191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1F32B4-CBE6-42D3-A525-079E6DD13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716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11CA6C-1CD7-4A5E-AAD7-6E8763F87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47950"/>
            <a:ext cx="2476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실제 게시 페이지에서 열린 상세 입력 화면입니다. 필수 조건과 고객 확인 절차를 표시합니다.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45484F9-4B1A-4F4B-A269-C8A177E3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24025"/>
            <a:ext cx="5467350" cy="4438650"/>
          </a:xfrm>
          <a:prstGeom xmlns:a="http://schemas.openxmlformats.org/drawingml/2006/main" prst="roundRect">
            <a:avLst>
              <a:gd name="adj" fmla="val 30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0AE7D6-16EA-4A63-99E2-ACFDA74BB08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a9306b8a4c64588"/>
          <a:srcRect xmlns:a="http://schemas.openxmlformats.org/drawingml/2006/main" l="34200" t="0" r="35300" b="0"/>
          <a:stretch xmlns:a="http://schemas.openxmlformats.org/drawingml/2006/main"/>
        </p:blipFill>
        <p:spPr>
          <a:xfrm xmlns:a="http://schemas.openxmlformats.org/drawingml/2006/main">
            <a:off x="6296025" y="1819275"/>
            <a:ext cx="2362200" cy="4191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966C9E-2D7E-4A58-9D1E-7D0CDC34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716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6C9F8A-7628-448D-908F-DF9E658A6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2476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실제 관리비 입력은 5개 체크박스와 총액입니다. 현재 안내는 선택 항목 결과만 표시하므로 미선택 결과는 남은 차이로 기록했습니다.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A1B0E3-1357-497C-AAEC-3D4578E97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2007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출처: 실제 월세구멍 공개 페이지 / 2026-10-23 캡처 / 입력 화면</a:t>
            </a:r>
          </a:p>
        </p:txBody>
      </p:sp>
    </p:spTree>
    <p:extLst>
      <p:ext uri="{BB962C8B-B14F-4D97-AF65-F5344CB8AC3E}">
        <p14:creationId xmlns:p14="http://schemas.microsoft.com/office/powerpoint/2010/main" val="118845937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944D61C-FC79-4652-B0D3-B0534C0E64B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6295e3d79b4470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118AA4-5BA1-480A-A31D-63A4F1CF4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02 실제 화면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1EA4303-32F0-4837-AFE6-C6DED91CB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실제 화면 ③ 집 서버 연결·분석 결과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7E176D-4B00-4494-AE93-BE62326CC1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B428E1-1A94-49E3-AC23-BA0FCEE1E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5919D9-CCF1-460C-BCDB-835EB04AC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38C938-B860-403E-B06C-714C6DE4B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24025"/>
            <a:ext cx="5467350" cy="4438650"/>
          </a:xfrm>
          <a:prstGeom xmlns:a="http://schemas.openxmlformats.org/drawingml/2006/main" prst="roundRect">
            <a:avLst>
              <a:gd name="adj" fmla="val 30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D8647A-70A9-4CCA-8D96-64A5F63039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d39aaf8d074d4e"/>
          <a:srcRect xmlns:a="http://schemas.openxmlformats.org/drawingml/2006/main" l="34200" t="0" r="35300" b="0"/>
          <a:stretch xmlns:a="http://schemas.openxmlformats.org/drawingml/2006/main"/>
        </p:blipFill>
        <p:spPr>
          <a:xfrm xmlns:a="http://schemas.openxmlformats.org/drawingml/2006/main">
            <a:off x="619125" y="1819275"/>
            <a:ext cx="2362200" cy="4191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C2D404-699B-4B93-B119-C5C247F0F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19716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C41FE3-1D4A-4C1E-9890-87D53420E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647950"/>
            <a:ext cx="2476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키 입력 없이 새 페이지에서 자동 연결했습니다. 가상 매물 시험입니다. 월세 80만 원 / 기준 180만 원 → 100만 원 낮음. 상세 근거는 −55.6%, 43건, 기준일 2026-10-16입니다.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CC5B74-3931-430A-8586-07D383072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24025"/>
            <a:ext cx="5467350" cy="4438650"/>
          </a:xfrm>
          <a:prstGeom xmlns:a="http://schemas.openxmlformats.org/drawingml/2006/main" prst="roundRect">
            <a:avLst>
              <a:gd name="adj" fmla="val 300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pic>
        <p:nvPic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B674350-82EE-4769-9D88-5E24919CD7E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86697784a5409a"/>
          <a:srcRect xmlns:a="http://schemas.openxmlformats.org/drawingml/2006/main" l="34200" t="0" r="35300" b="0"/>
          <a:stretch xmlns:a="http://schemas.openxmlformats.org/drawingml/2006/main"/>
        </p:blipFill>
        <p:spPr>
          <a:xfrm xmlns:a="http://schemas.openxmlformats.org/drawingml/2006/main">
            <a:off x="6296025" y="1819275"/>
            <a:ext cx="2362200" cy="4191000"/>
          </a:xfrm>
          <a:prstGeom xmlns:a="http://schemas.openxmlformats.org/drawingml/2006/main" prst="rect">
            <a:avLst/>
          </a:prstGeom>
        </p:spPr>
      </p:pic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6DD29AF-F071-4714-958B-01E3695DA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71675"/>
            <a:ext cx="238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1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D70D81-14A1-4628-9F75-FC388639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47950"/>
            <a:ext cx="2476500" cy="2476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새 공개 체험: 선택한 전기·인터넷은 참고 범위와 합계를 표시합니다. 가운데 금액과 미선택 항목 표시는 프론트 후속 작업입니다. 정확도 검증 사례가 아닙니다.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C8ABDB-F94C-4B07-B56D-04933EDF1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" y="6200775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82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출처: 실제 공개 사이트 + 집 API / 가상 매물 연결 시험 / 2026-10-23 / 정확도 검증 아님</a:t>
            </a:r>
          </a:p>
        </p:txBody>
      </p:sp>
    </p:spTree>
    <p:extLst>
      <p:ext uri="{BB962C8B-B14F-4D97-AF65-F5344CB8AC3E}">
        <p14:creationId xmlns:p14="http://schemas.microsoft.com/office/powerpoint/2010/main" val="18343923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0740CA2-B709-4F8B-AF27-4E7A68C3BB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29583893d52473c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36EEA2D-8C79-4D7F-B907-3B25A2EF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7DB636-A74E-4A77-84FF-B8E221AE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서비스 시스템 구성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C937D79-BA0F-4F27-BA57-571849AFF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6FC48C-3B37-480C-B166-3E5B38D7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D35E8C-38F8-405A-AEF2-38D59EAF0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A7FDD47-7EFE-418B-941D-96C9FB4D3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24050"/>
            <a:ext cx="2628900" cy="219075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DA079F-4E77-4D01-968E-CE02B12FF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0955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30DD7CD-6CAB-4814-AD5B-FD6547324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6479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프론트 화면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FBD1C2-BD12-4853-97E1-21AF5BE24B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200400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입력·확인·표시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930DE9-5667-41A6-9B83-ED05C0392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9527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B7C433-2DA1-4DBE-B03A-26FD8724F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62325" y="1924050"/>
            <a:ext cx="2628900" cy="219075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6C3D43-C643-484E-AF25-4CC3A5FF5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955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EC715E5-7B1D-4F20-8C6E-AEE440797B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6479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FastAPI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614799-5E1F-4B3C-9DFB-B6045EA0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3200400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세션·검증·분석 호출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25F1D91-B9A8-4577-BF1F-5A6001D0A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29527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A503E-E5D8-4926-9066-CCBCE7F11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924050"/>
            <a:ext cx="2628900" cy="219075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B40FA2A-6B9A-4838-9B3E-323E1187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0955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FCBCE01-26DC-4647-A8C0-3B1635AD2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26479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분석 코드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8623BED-EA19-4DD7-90C2-33E77AAD5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225" y="3200400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월세·관리비·OCR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B4F5B1-0838-4A59-BAFE-01106E6DB4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9675" y="295275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2CB06C7-B35D-4CC3-AF3F-21C7495CAA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9225" y="1924050"/>
            <a:ext cx="2628900" cy="219075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7085CC-07CD-4169-AE55-2DE6D302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0955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3155E8E-46E5-474A-9A46-45EB713F5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2647950"/>
            <a:ext cx="228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MySQL / CSV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20251FD-4FC7-4F5E-980C-90C8B20A7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0675" y="3200400"/>
            <a:ext cx="2286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사용자 기록 / 비교 근거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A471B48-7C40-4DE1-997C-045FF1DB9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543425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87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프론트 → API → 분석 결과 → 화면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528FD8-AA3F-484E-ABDB-F5DD9FFF5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106680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집 PC의 로컬 API와 MySQL에 HTTPS 터널로 연결합니다. 관리용 SSH는 별도입니다.</a:t>
            </a:r>
          </a:p>
          <a:p xmlns:a="http://schemas.openxmlformats.org/drawingml/2006/main">
            <a:pPr>
              <a:def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7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MySQL 사용자 기록과 실거래 CSV·관리비 기준 자료를 구분합니다.</a:t>
            </a:r>
          </a:p>
        </p:txBody>
      </p:sp>
    </p:spTree>
    <p:extLst>
      <p:ext uri="{BB962C8B-B14F-4D97-AF65-F5344CB8AC3E}">
        <p14:creationId xmlns:p14="http://schemas.microsoft.com/office/powerpoint/2010/main" val="1205566168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84B44B3-1F2F-477A-9321-8232DCAE87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2277bea38b4fbb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18983B3-6E3C-4298-B4D0-BC1827277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44C040C-FBAB-48BF-B2A1-B3327F4C3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프론트가 사용하는 핵심 API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20C485-CA62-4D1B-BCC2-AB933939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397DF-B38F-4B3A-91C8-06CE8B2DD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60BE1F-D4BF-43B0-A9C8-30CBA30C7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7DA336-2189-404C-8E4A-5A9D0605CECA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95875"/>
                <a:gridCol w="3048000"/>
                <a:gridCol w="3000375"/>
              </a:tblGrid>
              <a:tr h="612321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요청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역할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다음 단계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POST /sessions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별도 접속키로 세션 생성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Bearer 토큰 사용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POST /extractions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이미지 업로드·판독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GET /extractions/{id}/listing-draft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POST /extractions/{id}/cards/{index}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복수 카드에서 선택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선택 초안 확인·보완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POST /listings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고객 확인한 매물 등록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POST /listings/{id}/analyses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POST /listings/{id}/maintenance-references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관리비 참고값 계산·저장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GET /maintenance-references/{id}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12321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GET /listings/{id}/report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저장된 월세·관리비 결과 조회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화면 표시·수정·재분석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3913844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DC7182B-7E77-4967-B1A0-DF3C26B8C8B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fc9adcf20341ca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5CE1B4-ED09-42DB-BD39-E59FCB499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4C7E3B-3BF9-4D7F-9D0D-3A7B204CD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ERD - 운영 MySQL의 실제 테이블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83CA6E-F307-40A7-92A4-E39195ECA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474832-F063-4DF3-A3E3-A1519B5CF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B2FCA6-671A-41B7-B766-123268EE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29BD5D-26A5-4C92-8175-2293A1E717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14525"/>
            <a:ext cx="257175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DFDF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C632ED-F702-4DD9-A3E1-61380B22A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914525"/>
            <a:ext cx="257175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585E29-95FB-4CCA-ACC8-28EEB092E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009775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sessions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3498E64-4A6B-4F28-B063-13909967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428875"/>
            <a:ext cx="2343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 id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2C24AB-32AC-400A-9C34-F52131FBD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695575"/>
            <a:ext cx="2343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token_hash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9F2F61-65C0-4B85-96B2-0DA07D20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" y="2962275"/>
            <a:ext cx="2343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created_at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3784C6-3A27-4989-A366-0C909B889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76400"/>
            <a:ext cx="361950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DFDF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1EBF7B-44C7-494B-9E40-439D1BEF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1676400"/>
            <a:ext cx="361950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CC7C75-EAEC-4DFE-B835-A794B19E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77165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objects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6ABAA8-48E6-4846-97A2-E1162F719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190750"/>
            <a:ext cx="3390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 id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667AF7-3A17-46AB-9B5A-C73CCA535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390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FK owner → sessions.id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29B4F-8813-4E60-AF69-1D779489E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724150"/>
            <a:ext cx="3390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FK parent → objects.id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52A2AA0-D958-4501-9EF6-64D40389C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90850"/>
            <a:ext cx="3390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kind / payload / created_at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88D18-7181-4C2A-B9CE-61B79BAB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76400"/>
            <a:ext cx="2857500" cy="1352550"/>
          </a:xfrm>
          <a:prstGeom xmlns:a="http://schemas.openxmlformats.org/drawingml/2006/main" prst="roundRect">
            <a:avLst>
              <a:gd name="adj" fmla="val 985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DFDF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D9B3687-6565-475B-8634-CB2CE782A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1676400"/>
            <a:ext cx="285750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9102A18-B9B6-4A7D-8C6D-537ADADC4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177165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object_links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72DE91C-5F1F-4198-B7D2-55737ACE9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19075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PK,FK object_id → objects.id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8A754F0-6A2F-4470-9C61-01F9EE997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45745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 relation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2291A3-63B2-4406-BB92-C34D23B79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272415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FK target_id → objects.id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63B591-E2E5-45C3-A90A-3D86B6E09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62450"/>
            <a:ext cx="3619500" cy="1085850"/>
          </a:xfrm>
          <a:prstGeom xmlns:a="http://schemas.openxmlformats.org/drawingml/2006/main" prst="roundRect">
            <a:avLst>
              <a:gd name="adj" fmla="val 122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DFDF"/>
            </a:solidFill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B07324-CADD-4800-8CD0-5734573E6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4362450"/>
            <a:ext cx="361950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7A3BE5-D8C0-4840-AEA1-18066B9EB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457700"/>
            <a:ext cx="3390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listing_maintenance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1C9E88-DF00-43A3-90A4-C6276F20A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876800"/>
            <a:ext cx="3390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PK,FK listing_id → objects.id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8DF7D2-D4B5-4EDA-8B4A-3785DDC8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5143500"/>
            <a:ext cx="3390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amount / user_confirmed / note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A0B08C7-F260-425F-A2A4-3D3A23D2E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62450"/>
            <a:ext cx="2857500" cy="161925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FDFDF"/>
            </a:solidFill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51D1829-3532-47C6-9FEA-24FDF5A32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4362450"/>
            <a:ext cx="2857500" cy="428625"/>
          </a:xfrm>
          <a:prstGeom xmlns:a="http://schemas.openxmlformats.org/drawingml/2006/main" prst="roundRect">
            <a:avLst>
              <a:gd name="adj" fmla="val 31111"/>
            </a:avLst>
          </a:prstGeom>
          <a:solidFill xmlns:a="http://schemas.openxmlformats.org/drawingml/2006/main">
            <a:srgbClr val="EAF0FF"/>
          </a:solidFill>
          <a:ln xmlns:a="http://schemas.openxmlformats.org/drawingml/2006/main" w="0">
            <a:noFill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0A804BF-630B-420E-AE62-BA5F55B21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457700"/>
            <a:ext cx="2628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listing_maintenance_items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DA5E79C-4B4C-4B80-A5AB-8D691EE07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487680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PK,FK listing_id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50F2526-77C7-479E-8099-9CD80C194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514350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→ listing_maintenance.listing_id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814C532-4B3B-4B08-B6C4-1C41A7109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541020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PK item / status / raw_status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15C821-194F-4931-8B54-DDE074D12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24925" y="5676900"/>
            <a:ext cx="26289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amount_10k_krw / label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235DE55-DB54-43C3-8180-8D0EA19F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95625" y="2524125"/>
            <a:ext cx="10953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7FF44550-E64F-4C2E-9CB4-4E083E38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219075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 : 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C010BDF-D2A0-4C5C-91A9-19AD62DE1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62200"/>
            <a:ext cx="10001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A9E3128-A239-4AA4-AA74-E8B7F45EF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057400"/>
            <a:ext cx="762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 : N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67E355-545C-4E64-9CAD-B2CA60D8F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91225" y="3324225"/>
            <a:ext cx="190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6001A7E-FF2E-4FC4-B68F-EE15E3E9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6957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200" b="0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매물 1 : 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86C77EB-B346-4A7F-9A89-5963F3ACE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067300"/>
            <a:ext cx="10001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7D2EFEB-D7A9-4273-9EDF-1F90C274F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762500"/>
            <a:ext cx="76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125" b="0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 : N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B851DF5-1772-4957-8E9A-94E64A03A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43600"/>
            <a:ext cx="110490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12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자기참조: objects.parent / object_links의 두 외래키는 모두 objects.id 참조</a:t>
            </a:r>
          </a:p>
        </p:txBody>
      </p:sp>
    </p:spTree>
    <p:extLst>
      <p:ext uri="{BB962C8B-B14F-4D97-AF65-F5344CB8AC3E}">
        <p14:creationId xmlns:p14="http://schemas.microsoft.com/office/powerpoint/2010/main" val="97749583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E876CF-3607-4095-AAB8-312511A3D37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bce7dd7b2ee4079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546EB6-FBFC-4587-922C-211181578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F4DEDE-D40C-4604-B66D-7527C8D29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테이블 명세 - 무엇을 어디에 저장하나요?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F9522B-8D1F-486F-A206-EB94BA1E0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59E2BE-487F-4F7B-AE3B-5B8FF900D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D991B-1BFB-444B-8C35-BC7FD3864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13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85DC4D-3F48-46D6-AB75-9F70CAAFAB65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190875"/>
                <a:gridCol w="4286250"/>
                <a:gridCol w="3667125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테이블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주요 컬럼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저장 내용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sessions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id PK / token_hash / created_at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세션 인증. 원문 토큰 저장 안 함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objects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id PK / owner FK / kind / parent FK / payload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매물·추출·월세 분석·관리비 참고·재시도 기록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object_links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object_id PK,FK / relation PK / target_id FK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원본 추출·이전 매물과의 연결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listing_maintenance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listing_id PK,FK / amount_10k_krw / user_confirmed / note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고객 입력 관리비 총액·확인 여부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listing_maintenance_items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listing_id PK,FK / item PK / status / raw_status / amount_10k_krw / label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항목별 포함 상태. 과거 7항목 원문 보존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841094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5B3EED0-01DA-4785-9CA4-434CEA06451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e74819fd5b44f96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32AAA7-6A1A-46D0-9175-E67656503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6F131C-4D1A-4433-9B7D-2513E64EC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월세 분석 - 기존 동네 비교 계약 유지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529E88-7FBE-4064-84A8-10040EE3C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91016-21C2-440B-A44C-C65E127D8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5C88CA-4DB6-4567-A853-0DB29CB37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675461-74E9-4794-8E12-E00106487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5185E4-BA33-4397-B7C3-E2A0E76E8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BCEB90-D48F-4BA1-845A-5604F559B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확인한 매물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B600945-6553-4FBD-AEBD-D68A2E456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지역·유형·면적·금액 검증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CF7EAC-D232-47C1-8853-4EC3F0C5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08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BACA6D-4DAA-4BE2-9C8C-F3E532942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63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DE3812-6B17-4FE9-9CA6-0E841DE69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12BDB-9552-4D63-B936-DF910C5C3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기존 분석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50532F-EFB7-40F3-B584-98365FF76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정규화 + 기존 계약 + v2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84BFDE-F283-4820-9125-153A40FB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584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41E581-D1BC-4AA5-8E98-A570BAF25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39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34BB2D-C00A-4E3D-9176-2C3790006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4D2ECE-ED46-4759-87CF-D6B40ACA4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비교 거래 선별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884093-7700-43E2-A7CE-FBC492D7E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동 단위 → 완화 → 구 단위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183E84-D110-4110-BBC6-58DCCAE84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660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6AA3E00-9E2B-486F-BC7D-4F117D737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15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BD18A7C-A635-4C86-9981-03C8A5B4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F3BB09B-1862-4B93-8321-E8767CC6A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가격 위치 계산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5CFF70-1E82-45DE-8585-BA98F893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범위·차액·비율·표본·신뢰도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53431AB-4751-48AC-AAF8-620E63A1E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736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CF64DF-FF43-46EB-9AAE-FD5626AA9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1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F7A4915-9ABE-4D5D-BAFA-2D2599618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5511E0F-F02C-4AC5-8D0C-652203232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결과 저장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68B53B9-0047-4EED-859B-311C0CCD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개별 거래 목록은 현재 미제공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EB22616-D338-4781-9B74-2BC3C268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435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확인되지 않은 값은 채우지 않으며, 사용자 확인 후에만 등록·분석합니다.</a:t>
            </a:r>
          </a:p>
        </p:txBody>
      </p:sp>
    </p:spTree>
    <p:extLst>
      <p:ext uri="{BB962C8B-B14F-4D97-AF65-F5344CB8AC3E}">
        <p14:creationId xmlns:p14="http://schemas.microsoft.com/office/powerpoint/2010/main" val="56214275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8DC53D-4270-4481-A39F-68DE9ACE0C8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a733c2de2d4c4b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D94B13B-E8E4-442E-A9FE-079FCCB2D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BA96565-8D66-4BA2-97EF-16A77D9DB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관리비 분석 - 5항목을 따로 비교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6CC2F7-2F34-4A94-87DE-DC6CB67B1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5B6700-3C8B-4D1E-94F9-5E7FB28B9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1F671-D383-409C-B99F-AECE160E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4BD880-2722-4369-A171-FA9816EC6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787E516-E651-4118-BBC9-5A7576080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고객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687D4B-F306-434E-B3E0-C879589F9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체크한 항목과 총액을 저장합니다. 항목별 실제 금액을 고객에게 따로 입력시키지 않습니다.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637CF3-A1E7-4180-8658-DD631C09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6839B0E-79B7-4BC7-9558-3A4D83E7C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참고값 연결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AD8FA8-5FAB-4C53-8A41-9F53E5B24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분석가의 조건별 최소·최대 참고값을 사용합니다. 대표값은 (최소+최대)÷2입니다.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547A46-36CD-48DF-A7E4-A22EE638E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B61E2A-D8AC-42F6-AF4A-3ED5BFBC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실제 API 연결 시험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99EA34-0F12-4754-AA66-53193C304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가상 1인·10월 조건: 수도 10,950원 / 전기 35,350원 / 가스 30,320원 / 인터넷 23,800원.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918EEE-173C-4EBB-8424-10C2F832A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C9A335-C52F-43A1-A7F2-4ECE054F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미제공 처리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C9CCD5-8661-42E5-B74E-AB6F343BB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기타 null, 누락이 있는 묶음 합계 null. 입력 총액의 차액으로 기타를 만들지 않습니다. 숫자는 실제 고지서 검증이 아닙니다.</a:t>
            </a:r>
          </a:p>
        </p:txBody>
      </p:sp>
    </p:spTree>
    <p:extLst>
      <p:ext uri="{BB962C8B-B14F-4D97-AF65-F5344CB8AC3E}">
        <p14:creationId xmlns:p14="http://schemas.microsoft.com/office/powerpoint/2010/main" val="14664504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2E6CD53-087A-4AFD-B2B2-0CEF515587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ef4668fc164c84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C78705-D7C5-41BA-84F2-5A73EF214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03 시스템·ERD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6F8ACC-AB3C-4F97-9425-38273B162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이미지 분석 - 읽은 항목만 초안으로 전달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FA75F9E-3113-4D26-9770-5A8152FF3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77246F-F463-4D6D-ABD8-ACC039F38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67164A-FBBB-43DA-8D3D-3298A64F7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1F32E15-E584-4FB1-8C27-23A9B2392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D94E66-8CE0-4930-AE3F-3343B4E70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391CDC-8C46-48EE-8B18-9EC56B516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이미지 수신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AF5545-AD60-4247-9F81-4D6896C13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크기·형식 검증, 임시 파일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BEB09-F543-4539-91C2-FF4ACD04D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508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E4E774-4C0D-4E05-BA8F-E52E94DBA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9463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002FE7-A19E-45C2-AF81-571D06B8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7E94750-7F6B-4ADD-9B3C-D20F9930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두 엔진 실행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42964F-9F9F-47B3-8A01-F9C6227EB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608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엔진별 프로세스 분리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C8213F-30F2-4399-8C2E-7C8E2C651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584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898DF58-8E89-4A2E-8049-AA5E3559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39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BEF6C50-5EA8-40D2-92E8-7971233F2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97FC286-E59B-41D5-A620-3A2DCDED6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항목별 합의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6BED453-B011-48C5-A779-72BA2815D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684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일치한 값만 채움, 충돌은 비움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36CF61-5CB4-46BB-B81F-FDFF2A007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660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F3F506-9D89-419F-800F-8AA794979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615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91053D-57F8-494B-9E19-29437C450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04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694885-7A18-45A7-81F7-1A9AF51A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초안 반환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2E6F108-CFE6-4951-AC3E-003D4DECA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760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주소만 읽혔으면 주소 후보만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E8D7267-2495-426D-BD4F-A963E3665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7365" y="3314700"/>
            <a:ext cx="209550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0CB98B-85DF-4E13-9E08-C1CB45906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06915" y="2286000"/>
            <a:ext cx="2061210" cy="2190750"/>
          </a:xfrm>
          <a:prstGeom xmlns:a="http://schemas.openxmlformats.org/drawingml/2006/main" prst="roundRect">
            <a:avLst>
              <a:gd name="adj" fmla="val 647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ED6E4C2-1739-41DA-8791-D83AFF1CC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2457450"/>
            <a:ext cx="171831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22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05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A4E1F2-8C14-49D2-AB8C-83B260DB6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3009900"/>
            <a:ext cx="171831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고객 확인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6EEE702-75D0-4D41-848D-7F3C15F0D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8365" y="3562350"/>
            <a:ext cx="171831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3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누락 보완 후 등록·분석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6B74C42-7BD8-4249-A20D-6473C7901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143500"/>
            <a:ext cx="10668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15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확인되지 않은 값은 채우지 않으며, 사용자 확인 후에만 등록·분석합니다.</a:t>
            </a:r>
          </a:p>
        </p:txBody>
      </p:sp>
    </p:spTree>
    <p:extLst>
      <p:ext uri="{BB962C8B-B14F-4D97-AF65-F5344CB8AC3E}">
        <p14:creationId xmlns:p14="http://schemas.microsoft.com/office/powerpoint/2010/main" val="93678891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71E08D-893C-4E0D-BD4E-4384FDA320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5224c85292460c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8CEC9B-C27C-4821-BDE9-4D660A848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04 검증·마무리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0E9E3A-97C6-4C55-AF10-8DD1DD7C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검증 결과 - 구현과 정확도를 구분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A60805-7F1C-4AF2-8AF8-DE7CCF6E3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357C75B-C1A5-43EF-8927-C8950B957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A94A6C-2D00-44C1-8041-EB78DC38E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458DF3-E0B5-46E4-8C3A-8AED9F293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F2033D-FBDB-4511-BDC4-E8E42873D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백엔드 회귀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77D3ED-BFCC-4128-9930-E1D334E06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이번 작업: 최신 팀 코드 회귀 259개 통과, 21개 조건 미충족으로 건너뜀. 신규 중계 보안 2개 통과. 이전 전체 검증과 구분합니다.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0BDB44-0276-4EDE-AAB3-7AD2B828B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1A66C7A-957C-43E7-A510-425477928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분석 코드 검사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7160BA-207D-4DC7-83E0-D33EB4052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합의·열 분리·부분 필드 검사 3개 실패 0. 실제 이미지 전체 정확도 수치와 다릅니다.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4095C5-35BA-4B37-AA41-34B934BE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27977-D47E-43F1-9A2D-258020A81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집 실제 API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90E1F2-F7EF-4B63-A1A1-2A7D753BE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원격 로그인 → DB 백업 → 코드 적용 → 재시작 → 월세 COMPARED·관리비 저장/조회 성공.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3B0ED6D-C166-4BF7-A975-6B818CA6C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FCC433-3EE3-4A1C-9A47-98CADA5FD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프론트 화면 근거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408AC3-7099-4305-9846-1A7B64F564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원본 복사본 브라우저 시험 2종 통과. 공개 사이트도 기존 키로 집 서버에 연결해 가상 매물 등록·분석·결과 표시를 확인했습니다.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2880479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91D92B-BC53-40D2-ADCA-1391AFFF3A2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811b85c7c8c4fab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6F99CD-E777-413B-9652-4B174CCAB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04 검증·마무리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03AE57-E650-42A9-B6B1-A0F38D91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집 DB 집계 - 실제 조회한 행 수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82ED8D-1303-4459-8FC9-4373C601F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CF4EFD-24DD-4017-BF5B-19A4154B3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B848FE-64CD-4004-81C8-C9ED285F7F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18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1B3AB6-C5E0-49CF-BA48-D5184E4B1B1D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048250"/>
                <a:gridCol w="1809750"/>
                <a:gridCol w="4286250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대상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행 수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의미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sessions / objects / object_links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5 / 27 / 1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공개 화면 추가 시험 전 집계 (가상 시험 기록 별도)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매물 / 월세 분석 / 관리비 참고 분석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6 / 6 / 1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objects.kind별 집계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관리비 총액 / 항목 상세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6 / 38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과거 7항목 4건 + 새 5항목 2건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새 입력 저장 시험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정확히 5행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시험 가상 매물은 삭제 완료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자료 보존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배포 전후 지문 동일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기존 objects 원본·키·환경 설정 보존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087219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33993B8-A7FD-4BEE-91CB-EC1E30AEDBE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fe051d4cac4f15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B9AE19-B7A8-4A3A-912E-F3FBDAEE1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04 검증·마무리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B89449-7116-4FC2-9B04-F87ADE4AF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현재 남은 일 - 없는 기능은 넣지 않습니다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60D60F-BC8C-4DD8-A265-7C5452F4C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F5995FF-C605-42A9-831A-59152AE0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6183EA-C74E-4842-AED2-CA4FEB76B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19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240E525-5C5D-4E51-B55D-FAF092912F5E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66875"/>
                <a:gridCol w="5857875"/>
                <a:gridCol w="3619500"/>
              </a:tblGrid>
              <a:tr h="714375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담당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남은 확인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구분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프론트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새 URL·미선택 그룹·대표값·주의 문구·최종 CSS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API 제공과 화면 반영은 별개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분석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새 부분 입력의 실제 캡처 평가·지원 범위 안내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합성/개발 표본을 정확도로 일반화 금지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백엔드/운영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집 PC·터널 유지, 최종 공개 화면 연동 확인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임시 URL은 재시작 시 바뀔 수 있음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공통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요구사항 명세서와 구현 차이 확인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원본 시트는 수정하지 않고 제안만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14375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후속 범위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개별 비교 거래 목록·전국·사기 판정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현재 완료 기능으로 표시하지 않음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189422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0C05C6-9A30-481E-BC92-F2471FAF11B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b4a291686974122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29BA05-4BA2-429D-9B44-47694EA81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04 검증·마무리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FAD67-AE99-4F8A-BA41-141AAA41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시연 순서와 제출 근거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0E5C88-1019-442F-87EF-D5E84FF9A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F5DF8A-95E6-494F-96B1-719D7C9A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E51355-F154-4ADF-8CFA-F5559B9EB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2E3CB8C-98A9-4B41-8C6B-559370B29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D286E2-94B9-414E-B245-78AFB06D3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시연 1 직접 입력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4CFC920-C7F4-40AD-9E6D-618A8EE83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지역·유형·면적·금액 → 관리비 체크·총액 → 사용자 확인 → 월세 차액·관리비 참고값.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E174ED-AFAE-44B7-B77F-083C805F1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733550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2FD36-E4EA-4BE1-8A2E-D7C85FD78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시연 2 캡처 입력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F334C8-1E3A-4C38-83F2-C682ADA2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438400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지원 목록 캡처 → 가져온 값 확인·누락 보완 → 확인 → 저장·결과. 실제 이미지 오류 가능성도 안내.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65DCAB3-7915-4D92-905B-DF0CEBBCE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713DBD-FE8B-4FD9-BF62-E93B06122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시연 3 자료 부족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FCF5374-F35E-4D4D-BA25-4F176EE75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근거 없는 항목·기타는 자료 없음. 월세 참고용 상태에서 가격 판정을 과장하지 않습니다.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91E1A3E-1E77-4D6A-8229-ED83CF46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3990975"/>
            <a:ext cx="5467350" cy="2038350"/>
          </a:xfrm>
          <a:prstGeom xmlns:a="http://schemas.openxmlformats.org/drawingml/2006/main" prst="roundRect">
            <a:avLst>
              <a:gd name="adj" fmla="val 65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6BDC29A-25AA-4AFD-83CB-ED011D8F7B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81475"/>
            <a:ext cx="502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725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자료 기준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A3C906A-7DC9-44EC-A05C-73EA22269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95825"/>
            <a:ext cx="50292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1650" b="0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팀 적용 코드 856dc01 / 개인 적용 코드 99b94da. 실제 월세구멍 공개 입력 화면·집 API 검증 2026-10-23. 접속키·DB 원문 제외.</a:t>
            </a:r>
          </a:p>
        </p:txBody>
      </p:sp>
    </p:spTree>
    <p:extLst>
      <p:ext uri="{BB962C8B-B14F-4D97-AF65-F5344CB8AC3E}">
        <p14:creationId xmlns:p14="http://schemas.microsoft.com/office/powerpoint/2010/main" val="51397286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79AB03-9589-43E7-AC19-453407530F7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75f37b917b4068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39B55D-9F50-460E-A08A-176D00D08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부록 · 제안만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F25BF-2B3E-4343-916A-D2FBB61C7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요구사항 수정 제안 1 - 원본 변경 없음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E64882-4DE8-4C69-A823-F952794BC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56E39A-F740-426A-97B1-ED799C8CC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D2AC58-2C02-41D4-BECA-543786A90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21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536F54-2C45-443C-9175-027C707651B9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3571875"/>
                <a:gridCol w="5476875"/>
              </a:tblGrid>
              <a:tr h="857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요구사항·셀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현재 문구·상태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수정 제안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014 · G15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포함 항목은 입력받지 않음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5항목 체크박스와 관리비 총액 한 칸을 받음. 미체크는 UNKNOWN, 미입력과 0원을 구분.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034 · G27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수도·전기·가스·인터넷 4항목과 합계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기타 포함 5항목. 선택/미선택을 구분하고 (최소+최대)÷2 표시. 누락 그룹 합계는 미제공.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035 · G28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입력 월세+관리비와 기준 월세+공과금 합계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비용 범위가 같은지 확인 전 합계 차이로 판단하지 않음. 선택/미선택 참고비용을 나누는 확정 방식 명시.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025 · J26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포함 항목을 입력받지 않는다는 전제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체크 항목은 확인하지만 미체크는 별도 청구 확정이 아님. 월세 차액에 관리비를 혼합하지 않는 규칙 유지.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690789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F826F4-C4EB-4D81-8FA7-50EC547FC8D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0c73245d304437"/>
          <a:stretch xmlns:a="http://schemas.openxmlformats.org/drawingml/2006/main"/>
        </p:blipFill>
        <p:spPr>
          <a:xfrm xmlns:a="http://schemas.openxmlformats.org/drawingml/2006/main">
            <a:off x="457200" y="234950"/>
            <a:ext cx="1104900" cy="3683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20B6039-7E52-4340-BE6D-7A473E3D5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04800"/>
            <a:ext cx="2571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75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부록 · 제안만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83120C-F270-4686-8C37-476143A7F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866775"/>
            <a:ext cx="11144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defPPr>
            <a:lvl1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1pPr>
            <a:lvl2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2pPr>
            <a:lvl3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3pPr>
            <a:lvl4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4pPr>
            <a:lvl5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5pPr>
            <a:lvl6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6pPr>
            <a:lvl7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7pPr>
            <a:lvl8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8pPr>
            <a:lvl9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defRPr>
            </a:pPr>
            <a:r>
              <a:rPr sz="2550" b="1">
                <a:solidFill>
                  <a:srgbClr val="222222"/>
                </a:solidFill>
                <a:latin typeface="Paperlogy"/>
                <a:ea typeface="Paperlogy"/>
                <a:cs typeface="Paperlogy"/>
              </a:rPr>
              <a:t>요구사항 수정 제안 2 - 원본 변경 없음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EF44CC-F7B0-4F1E-9A38-40208CCA3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457325"/>
            <a:ext cx="11144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26CF9"/>
          </a:solidFill>
          <a:ln xmlns:a="http://schemas.openxmlformats.org/drawingml/2006/main" w="0">
            <a:noFill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59AA513-FBAF-4454-99F6-888EC8CFB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419850"/>
            <a:ext cx="1028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defPPr>
            <a:lvl1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1pPr>
            <a:lvl2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2pPr>
            <a:lvl3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3pPr>
            <a:lvl4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4pPr>
            <a:lvl5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5pPr>
            <a:lvl6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6pPr>
            <a:lvl7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7pPr>
            <a:lvl8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8pPr>
            <a:lvl9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defRPr>
            </a:pPr>
            <a:r>
              <a:rPr sz="900" b="0">
                <a:solidFill>
                  <a:srgbClr val="656565"/>
                </a:solidFill>
                <a:latin typeface="Paperlogy"/>
                <a:ea typeface="Paperlogy"/>
                <a:cs typeface="Paperlogy"/>
              </a:rPr>
              <a:t>2026.10.23 | 실제 코드·집 API 검증 / 공개 프론트 최종 게시와 구분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4D5739-70C3-466A-8246-AE9A22977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9850"/>
            <a:ext cx="5715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t"/>
          <a:lstStyle xmlns:a="http://schemas.openxmlformats.org/drawingml/2006/main">
            <a:def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defPPr>
            <a:lvl1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1pPr>
            <a:lvl2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2pPr>
            <a:lvl3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3pPr>
            <a:lvl4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4pPr>
            <a:lvl5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5pPr>
            <a:lvl6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6pPr>
            <a:lvl7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7pPr>
            <a:lvl8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8pPr>
            <a:lvl9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lvl9pPr>
          </a:lstStyle>
          <a:p xmlns:a="http://schemas.openxmlformats.org/drawingml/2006/main">
            <a:pPr>
              <a:def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defRPr>
            </a:pPr>
            <a:r>
              <a:rPr sz="1050" b="1">
                <a:solidFill>
                  <a:srgbClr val="326CF9"/>
                </a:solidFill>
                <a:latin typeface="Paperlogy"/>
                <a:ea typeface="Paperlogy"/>
                <a:cs typeface="Paperlogy"/>
              </a:rPr>
              <a:t>22</a:t>
            </a:r>
          </a:p>
        </p:txBody>
      </p:sp>
      <p:graphicFrame>
        <p:nvGraphicFrame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3EC252-39F9-4327-B470-603926B93C4C}"/>
              </a:ext>
            </a:extLst>
          </p:cNvPr>
          <p:cNvGraphicFramePr/>
          <p:nvPr/>
        </p:nvGraphicFramePr>
        <p:xfrm>
          <a:off xmlns:a="http://schemas.openxmlformats.org/drawingml/2006/main" x="523875" y="1752600"/>
          <a:ext xmlns:a="http://schemas.openxmlformats.org/drawingml/2006/main" cx="11144250" cy="4286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3571875"/>
                <a:gridCol w="5476875"/>
              </a:tblGrid>
              <a:tr h="857250"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요구사항·셀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현재 문구·상태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 b="1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수정 제안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T w="9525">
                      <a:solidFill>
                        <a:srgbClr val="DFDFDF"/>
                      </a:solidFill>
                      <a:prstDash val="solid"/>
                    </a:lnT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EAF0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002 · G3/J3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서울/전국·주택 유형이 논의 중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이번 MVP는 현재 로드된 서울 구·유형만 지원한다고 명시. 전국·추가 유형은 별도 확정.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006·010·017 · G7/G11/G18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건축물대장 자동 조회·갱신·불일치 비교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현재 완료로 표시하지 않기. 이번 범위 제외/후속 중 팀이 선택하고, 미조회 값은 직접 확인·입력.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007 · G8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이미지 정보를 추출하고 누락은 미입력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부분 이미지도 일치한 항목만 입력 후보로 제공. 충돌·단독 판독은 비움. 주소는 검색 확인 전 후보.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011 · G12</a:t>
                      </a:r>
                    </a:p>
                  </a:txBody>
                  <a:tcPr marL="114300" marR="114300" marT="95250" marB="95250" anchor="t">
                    <a:lnL w="9525">
                      <a:solidFill>
                        <a:srgbClr val="DFDFDF"/>
                      </a:solidFill>
                      <a:prstDash val="solid"/>
                    </a:lnL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직접 입력에서도 주소 검색으로 선택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50">
                          <a:solidFill>
                            <a:srgbClr val="222222"/>
                          </a:solidFill>
                          <a:latin typeface="Paperlogy"/>
                          <a:ea typeface="Paperlogy"/>
                          <a:cs typeface="Paperlogy"/>
                        </a:rPr>
                        <a:t>검색 필수 유지인지, 검색 실패 시 코드 검증을 거친 직접 입력 허용인지 팀 결정 필요. 자동 변경하지 않음.</a:t>
                      </a:r>
                    </a:p>
                  </a:txBody>
                  <a:tcPr marL="114300" marR="114300" marT="95250" marB="95250" anchor="t">
                    <a:lnR w="9525">
                      <a:solidFill>
                        <a:srgbClr val="DFDFDF"/>
                      </a:solidFill>
                      <a:prstDash val="solid"/>
                    </a:lnR>
                    <a:lnB w="9525">
                      <a:solidFill>
                        <a:srgbClr val="DFDFD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30049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Paperlogy"/>
        <a:ea typeface=""/>
        <a:cs typeface=""/>
      </a:majorFont>
      <a:minorFont>
        <a:latin typeface="Paperlogy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2026-10-23T06:19:35.8110000Z</dcterms:created>
  <dcterms:modified xsi:type="dcterms:W3CDTF">2026-10-23T06:19:35.8110000Z</dcterms:modified>
</coreProperties>
</file>